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d89534737b4c2c" /><Relationship Type="http://schemas.openxmlformats.org/officeDocument/2006/relationships/extended-properties" Target="/docProps/app.xml" Id="R2524416b5cac4973" /><Relationship Type="http://schemas.openxmlformats.org/officeDocument/2006/relationships/officeDocument" Target="/ppt/presentation.xml" Id="R0b999defe4ab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27f4b5c4fb4070"/>
  </p:sldMasterIdLst>
  <p:notesMasterIdLst>
    <p:notesMasterId xmlns:r="http://schemas.openxmlformats.org/officeDocument/2006/relationships" r:id="R2e1e3da1dfab4806"/>
  </p:notesMasterIdLst>
  <p:sldIdLst>
    <p:sldId xmlns:r="http://schemas.openxmlformats.org/officeDocument/2006/relationships" id="256" r:id="R55701bb3a3a44c19"/>
    <p:sldId xmlns:r="http://schemas.openxmlformats.org/officeDocument/2006/relationships" id="257" r:id="Rd444e6736fdf4ff1"/>
    <p:sldId xmlns:r="http://schemas.openxmlformats.org/officeDocument/2006/relationships" id="258" r:id="Rabea99d489924b49"/>
    <p:sldId xmlns:r="http://schemas.openxmlformats.org/officeDocument/2006/relationships" id="259" r:id="R93637532ff214778"/>
    <p:sldId xmlns:r="http://schemas.openxmlformats.org/officeDocument/2006/relationships" id="260" r:id="R7daa1c1571714620"/>
    <p:sldId xmlns:r="http://schemas.openxmlformats.org/officeDocument/2006/relationships" id="261" r:id="Ra92f4116196f48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c41bab7814aa3" /><Relationship Type="http://schemas.openxmlformats.org/officeDocument/2006/relationships/slideMaster" Target="/ppt/slideMasters/slideMaster1.xml" Id="R6127f4b5c4fb4070" /><Relationship Type="http://schemas.openxmlformats.org/officeDocument/2006/relationships/notesMaster" Target="/ppt/notesMasters/notesMaster1.xml" Id="R2e1e3da1dfab4806" /><Relationship Type="http://schemas.openxmlformats.org/officeDocument/2006/relationships/presProps" Target="/ppt/presProps.xml" Id="Rb1181c0e63a446eb" /><Relationship Type="http://schemas.openxmlformats.org/officeDocument/2006/relationships/tableStyles" Target="/ppt/tableStyles.xml" Id="Rad6a4b2df5244cb7" /><Relationship Type="http://schemas.openxmlformats.org/officeDocument/2006/relationships/slide" Target="/ppt/slides/slide1.xml" Id="R55701bb3a3a44c19" /><Relationship Type="http://schemas.openxmlformats.org/officeDocument/2006/relationships/slide" Target="/ppt/slides/slide2.xml" Id="Rd444e6736fdf4ff1" /><Relationship Type="http://schemas.openxmlformats.org/officeDocument/2006/relationships/slide" Target="/ppt/slides/slide3.xml" Id="Rabea99d489924b49" /><Relationship Type="http://schemas.openxmlformats.org/officeDocument/2006/relationships/slide" Target="/ppt/slides/slide4.xml" Id="R93637532ff214778" /><Relationship Type="http://schemas.openxmlformats.org/officeDocument/2006/relationships/slide" Target="/ppt/slides/slide5.xml" Id="R7daa1c1571714620" /><Relationship Type="http://schemas.openxmlformats.org/officeDocument/2006/relationships/slide" Target="/ppt/slides/slide6.xml" Id="Ra92f4116196f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575666d74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e783c17893430a" /><Relationship Type="http://schemas.openxmlformats.org/officeDocument/2006/relationships/notesMaster" Target="/ppt/notesMasters/notesMaster1.xml" Id="R361626ed1d9149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a4ceefa8c043c0" /><Relationship Type="http://schemas.openxmlformats.org/officeDocument/2006/relationships/notesMaster" Target="/ppt/notesMasters/notesMaster1.xml" Id="R8e60d5bbb181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94360fb257420c" /><Relationship Type="http://schemas.openxmlformats.org/officeDocument/2006/relationships/notesMaster" Target="/ppt/notesMasters/notesMaster1.xml" Id="R605d95b15398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06890934734056" /><Relationship Type="http://schemas.openxmlformats.org/officeDocument/2006/relationships/notesMaster" Target="/ppt/notesMasters/notesMaster1.xml" Id="R4f116d9824894b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7f1be8869e4441" /><Relationship Type="http://schemas.openxmlformats.org/officeDocument/2006/relationships/notesMaster" Target="/ppt/notesMasters/notesMaster1.xml" Id="Re2e8ef227555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fe1f58ff3c497c" /><Relationship Type="http://schemas.openxmlformats.org/officeDocument/2006/relationships/notesMaster" Target="/ppt/notesMasters/notesMaster1.xml" Id="R5ac58d581f0d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Khushi opens: Malegaon needs local pollution evidence. AeroChem Sentinel turns transparent regional model context into a first monitoring and intervention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https://sumitpawar2006.github.io/aerochem-sentinel/</a:t>
            </a:r>
          </a:p>
          <a:p xmlns:a="http://schemas.openxmlformats.org/drawingml/2006/main">
            <a:r>
              <a:t>- Dashboard screenshot captured 08 Aug 2026 from the working prototype.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Vaishnavi explains: CAMS gives a 0.4-degree global atmospheric model, approximately 45 km. That is not a local sensor. Our scientific contribution is to preserve that distinction and define the validation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https://open-meteo.com/en/docs/air-quality-api</a:t>
            </a:r>
          </a:p>
          <a:p xmlns:a="http://schemas.openxmlformats.org/drawingml/2006/main">
            <a:r>
              <a:t>- AeroChem Sentinel project data contract and Method panel.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Sumit demonstrates the live site. Emphasize the labels: the HCHO and NO2 values are CAMS near-surface model context. The separate Sentinel-5P column raster is still a future integration and is never conflated with these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https://open-meteo.com/en/docs/air-quality-api</a:t>
            </a:r>
          </a:p>
          <a:p xmlns:a="http://schemas.openxmlformats.org/drawingml/2006/main">
            <a:r>
              <a:t>- https://sentinels.copernicus.eu/documents/247904/2474726/Sentinel-5P-Level-2-Product-User-Manual-Formaldehyde</a:t>
            </a:r>
          </a:p>
          <a:p xmlns:a="http://schemas.openxmlformats.org/drawingml/2006/main">
            <a:r>
              <a:t>- Dashboard snapshot generated 08 Aug 2026 at Malegaon coordinates.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Sumit shows the recommended site. State exactly how to trust it: the weights, candidates and 3 km planning radius are visible. Field verification and permission checks happen in weeks 1 and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AeroChem Sentinel data/decision-model.json</a:t>
            </a:r>
          </a:p>
          <a:p xmlns:a="http://schemas.openxmlformats.org/drawingml/2006/main">
            <a:r>
              <a:t>-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Khushi presents feasibility. The intervention tool is an assumption sandbox, not a forecast. The pilot is designed to replace blank validation fields with published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AeroChem Sentinel data/decision-model.json</a:t>
            </a:r>
          </a:p>
          <a:p xmlns:a="http://schemas.openxmlformats.org/drawingml/2006/main">
            <a:r>
              <a:t>- AeroChem Sentinel Method and Trends panels.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Sumit closes with the ask. Do not end with a feature list. Ask for the pilot that converts regional context into local validation and community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AeroChem Sentinel Complete Project Manual</a:t>
            </a:r>
          </a:p>
          <a:p xmlns:a="http://schemas.openxmlformats.org/drawingml/2006/main">
            <a:r>
              <a:t>- AeroChem Sentinel Samarthya 2026 project deck</a:t>
            </a:r>
          </a:p>
          <a:p xmlns:a="http://schemas.openxmlformats.org/drawingml/2006/main">
            <a:r>
              <a:t>- https://sumitpawar2006.github.io/aerochem-sentinel/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c532742a54a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a49e203bbf4bb7" /><Relationship Type="http://schemas.openxmlformats.org/officeDocument/2006/relationships/slideLayout" Target="/ppt/slideLayouts/slideLayout1.xml" Id="R4da6fd7377154d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a6fd7377154d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c58d77344af6" /><Relationship Type="http://schemas.openxmlformats.org/officeDocument/2006/relationships/image" Target="/ppt/media/image.jpeg" Id="Rcd03cc0ec5e84841" /><Relationship Type="http://schemas.openxmlformats.org/officeDocument/2006/relationships/notesSlide" Target="/ppt/notesSlides/notesSlide1.xml" Id="R5412127495a74f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d46bd8561430a" /><Relationship Type="http://schemas.openxmlformats.org/officeDocument/2006/relationships/notesSlide" Target="/ppt/notesSlides/notesSlide2.xml" Id="Re6a6425260c145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391dd45d45d9" /><Relationship Type="http://schemas.openxmlformats.org/officeDocument/2006/relationships/image" Target="/ppt/media/image2.jpeg" Id="R0f0bb31b50d74754" /><Relationship Type="http://schemas.openxmlformats.org/officeDocument/2006/relationships/notesSlide" Target="/ppt/notesSlides/notesSlide3.xml" Id="Rdc09ace85e05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1b272f3fe4b69" /><Relationship Type="http://schemas.openxmlformats.org/officeDocument/2006/relationships/image" Target="/ppt/media/image3.jpeg" Id="R0e89bf9f8e80449d" /><Relationship Type="http://schemas.openxmlformats.org/officeDocument/2006/relationships/notesSlide" Target="/ppt/notesSlides/notesSlide4.xml" Id="R761d2b426b92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c2f8c4f564860" /><Relationship Type="http://schemas.openxmlformats.org/officeDocument/2006/relationships/image" Target="/ppt/media/image4.jpeg" Id="R1415411faf18466e" /><Relationship Type="http://schemas.openxmlformats.org/officeDocument/2006/relationships/notesSlide" Target="/ppt/notesSlides/notesSlide5.xml" Id="R4889de305d22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65da7382d4c57" /><Relationship Type="http://schemas.openxmlformats.org/officeDocument/2006/relationships/notesSlide" Target="/ppt/notesSlides/notesSlide6.xml" Id="Rbe2b1aaa532646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cc0ec5e84841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-left-field">
            <a:extLst xmlns:a="http://schemas.openxmlformats.org/drawingml/2006/main">
              <a:ext uri="{FF2B5EF4-FFF2-40B4-BE49-F238E27FC236}">
                <a16:creationId xmlns:a16="http://schemas.microsoft.com/office/drawing/2014/main" id="{1A837F2A-6231-4F94-8C36-266F499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38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07441EE-B1B9-4729-8A5D-E6FF4D8C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BAC61563-8B4C-4A61-A30B-FA0C080B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E66D"/>
                </a:solidFill>
              </a:defRPr>
            </a:pPr>
            <a:r>
              <a:rPr sz="1200" b="1">
                <a:solidFill>
                  <a:srgbClr val="C7E66D"/>
                </a:solidFill>
              </a:rPr>
              <a:t>SAMARTHYA 2026 · IDEATHON PARTICIPANT</a:t>
            </a:r>
          </a:p>
        </p:txBody>
      </p:sp>
      <p:sp>
        <p:nvSpPr>
          <p:cNvPr id="5" name="title-main">
            <a:extLst xmlns:a="http://schemas.openxmlformats.org/drawingml/2006/main">
              <a:ext uri="{FF2B5EF4-FFF2-40B4-BE49-F238E27FC236}">
                <a16:creationId xmlns:a16="http://schemas.microsoft.com/office/drawing/2014/main" id="{F073DA62-56CE-4C00-9D8D-8FE07C29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AeroChem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Sentinel</a:t>
            </a:r>
          </a:p>
        </p:txBody>
      </p:sp>
      <p:sp>
        <p:nvSpPr>
          <p:cNvPr id="6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63EC25A5-625A-48EA-AC0D-6CBF517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DFDA"/>
                </a:solidFill>
              </a:defRPr>
            </a:pPr>
            <a:r>
              <a:rPr sz="2100" b="0">
                <a:solidFill>
                  <a:srgbClr val="D8DFDA"/>
                </a:solidFill>
              </a:rPr>
              <a:t>Regional atmospheric evidence, translated into a practical first monitoring decision.</a:t>
            </a:r>
          </a:p>
        </p:txBody>
      </p:sp>
      <p:sp>
        <p:nvSpPr>
          <p:cNvPr id="7" name="title-location">
            <a:extLst xmlns:a="http://schemas.openxmlformats.org/drawingml/2006/main">
              <a:ext uri="{FF2B5EF4-FFF2-40B4-BE49-F238E27FC236}">
                <a16:creationId xmlns:a16="http://schemas.microsoft.com/office/drawing/2014/main" id="{E4EA4273-2224-4BBA-AA9A-28CF5FBB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6B32"/>
                </a:solidFill>
              </a:defRPr>
            </a:pPr>
            <a:r>
              <a:rPr sz="1275" b="1">
                <a:solidFill>
                  <a:srgbClr val="E66B32"/>
                </a:solidFill>
              </a:rPr>
              <a:t>MALEGAON · MAHARASHTRA</a:t>
            </a:r>
          </a:p>
        </p:txBody>
      </p:sp>
      <p:sp>
        <p:nvSpPr>
          <p:cNvPr id="8" name="title-link">
            <a:extLst xmlns:a="http://schemas.openxmlformats.org/drawingml/2006/main">
              <a:ext uri="{FF2B5EF4-FFF2-40B4-BE49-F238E27FC236}">
                <a16:creationId xmlns:a16="http://schemas.microsoft.com/office/drawing/2014/main" id="{E28F14B5-B115-4E3D-BAB4-31D01B8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sumitpawar2006.github.io/aerochem-sentinel</a:t>
            </a:r>
          </a:p>
        </p:txBody>
      </p:sp>
      <p:sp>
        <p:nvSpPr>
          <p:cNvPr id="9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BB670CC5-B522-42F6-937F-6B285888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E66D"/>
                </a:solidFill>
              </a:defRPr>
            </a:pPr>
            <a:r>
              <a:rPr sz="975" b="1">
                <a:solidFill>
                  <a:srgbClr val="C7E66D"/>
                </a:solidFill>
              </a:rPr>
              <a:t>AEROCHEM SENTINEL</a:t>
            </a:r>
          </a:p>
        </p:txBody>
      </p:sp>
      <p:sp>
        <p:nvSpPr>
          <p:cNvPr id="10" name="footer-index-1">
            <a:extLst xmlns:a="http://schemas.openxmlformats.org/drawingml/2006/main">
              <a:ext uri="{FF2B5EF4-FFF2-40B4-BE49-F238E27FC236}">
                <a16:creationId xmlns:a16="http://schemas.microsoft.com/office/drawing/2014/main" id="{393D82F0-4AF0-4602-9808-98EE97A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335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3BCDD499-8923-4803-86A0-F15B98DD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6B32"/>
                </a:solidFill>
              </a:defRPr>
            </a:pPr>
            <a:r>
              <a:rPr sz="1125" b="1">
                <a:solidFill>
                  <a:srgbClr val="E66B32"/>
                </a:solidFill>
              </a:rPr>
              <a:t>THE MONITORING GAP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5EDD81F6-E3F6-4530-B21F-483E877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11E"/>
                </a:solidFill>
              </a:defRPr>
            </a:pPr>
            <a:r>
              <a:rPr sz="3600" b="1">
                <a:solidFill>
                  <a:srgbClr val="18211E"/>
                </a:solidFill>
              </a:rPr>
              <a:t>Regional context is useful—but not local proof.</a:t>
            </a:r>
          </a:p>
        </p:txBody>
      </p:sp>
      <p:sp>
        <p:nvSpPr>
          <p:cNvPr id="3" name="problem-rule">
            <a:extLst xmlns:a="http://schemas.openxmlformats.org/drawingml/2006/main">
              <a:ext uri="{FF2B5EF4-FFF2-40B4-BE49-F238E27FC236}">
                <a16:creationId xmlns:a16="http://schemas.microsoft.com/office/drawing/2014/main" id="{9CF24487-63DE-481E-BC3D-DC39BA6A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grid-value">
            <a:extLst xmlns:a="http://schemas.openxmlformats.org/drawingml/2006/main">
              <a:ext uri="{FF2B5EF4-FFF2-40B4-BE49-F238E27FC236}">
                <a16:creationId xmlns:a16="http://schemas.microsoft.com/office/drawing/2014/main" id="{159F1724-DE38-45A9-A336-A2B6DDA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347FAA"/>
                </a:solidFill>
              </a:defRPr>
            </a:pPr>
            <a:r>
              <a:rPr sz="6150" b="1">
                <a:solidFill>
                  <a:srgbClr val="347FAA"/>
                </a:solidFill>
              </a:rPr>
              <a:t>45 km</a:t>
            </a:r>
          </a:p>
        </p:txBody>
      </p:sp>
      <p:sp>
        <p:nvSpPr>
          <p:cNvPr id="5" name="problem-grid-label">
            <a:extLst xmlns:a="http://schemas.openxmlformats.org/drawingml/2006/main">
              <a:ext uri="{FF2B5EF4-FFF2-40B4-BE49-F238E27FC236}">
                <a16:creationId xmlns:a16="http://schemas.microsoft.com/office/drawing/2014/main" id="{15461834-2DD9-41ED-8E92-83C4319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26D"/>
                </a:solidFill>
              </a:defRPr>
            </a:pPr>
            <a:r>
              <a:rPr sz="1650" b="0">
                <a:solidFill>
                  <a:srgbClr val="66726D"/>
                </a:solidFill>
              </a:rPr>
              <a:t>CAMS global grid used for current context</a:t>
            </a:r>
          </a:p>
        </p:txBody>
      </p:sp>
      <p:sp>
        <p:nvSpPr>
          <p:cNvPr id="6" name="problem-ground-value">
            <a:extLst xmlns:a="http://schemas.openxmlformats.org/drawingml/2006/main">
              <a:ext uri="{FF2B5EF4-FFF2-40B4-BE49-F238E27FC236}">
                <a16:creationId xmlns:a16="http://schemas.microsoft.com/office/drawing/2014/main" id="{84EA4E0D-842C-4B70-B2AE-92DA856B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E66B32"/>
                </a:solidFill>
              </a:defRPr>
            </a:pPr>
            <a:r>
              <a:rPr sz="6150" b="1">
                <a:solidFill>
                  <a:srgbClr val="E66B32"/>
                </a:solidFill>
              </a:rPr>
              <a:t>0</a:t>
            </a:r>
          </a:p>
        </p:txBody>
      </p:sp>
      <p:sp>
        <p:nvSpPr>
          <p:cNvPr id="7" name="problem-ground-label">
            <a:extLst xmlns:a="http://schemas.openxmlformats.org/drawingml/2006/main">
              <a:ext uri="{FF2B5EF4-FFF2-40B4-BE49-F238E27FC236}">
                <a16:creationId xmlns:a16="http://schemas.microsoft.com/office/drawing/2014/main" id="{F46F58A3-9BE7-48C8-9438-E509F35E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26D"/>
                </a:solidFill>
              </a:defRPr>
            </a:pPr>
            <a:r>
              <a:rPr sz="1650" b="0">
                <a:solidFill>
                  <a:srgbClr val="66726D"/>
                </a:solidFill>
              </a:rPr>
              <a:t>verified ground observations connected today</a:t>
            </a:r>
          </a:p>
        </p:txBody>
      </p:sp>
      <p:sp>
        <p:nvSpPr>
          <p:cNvPr id="8" name="problem-pilot-value">
            <a:extLst xmlns:a="http://schemas.openxmlformats.org/drawingml/2006/main">
              <a:ext uri="{FF2B5EF4-FFF2-40B4-BE49-F238E27FC236}">
                <a16:creationId xmlns:a16="http://schemas.microsoft.com/office/drawing/2014/main" id="{0A797774-E217-401C-BDCC-EC875BD0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F7C65"/>
                </a:solidFill>
              </a:defRPr>
            </a:pPr>
            <a:r>
              <a:rPr sz="6150" b="1">
                <a:solidFill>
                  <a:srgbClr val="0F7C65"/>
                </a:solidFill>
              </a:rPr>
              <a:t>1</a:t>
            </a:r>
          </a:p>
        </p:txBody>
      </p:sp>
      <p:sp>
        <p:nvSpPr>
          <p:cNvPr id="9" name="problem-pilot-label">
            <a:extLst xmlns:a="http://schemas.openxmlformats.org/drawingml/2006/main">
              <a:ext uri="{FF2B5EF4-FFF2-40B4-BE49-F238E27FC236}">
                <a16:creationId xmlns:a16="http://schemas.microsoft.com/office/drawing/2014/main" id="{D831CDB5-9BE1-4096-920A-0BBF613A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26D"/>
                </a:solidFill>
              </a:defRPr>
            </a:pPr>
            <a:r>
              <a:rPr sz="1650" b="0">
                <a:solidFill>
                  <a:srgbClr val="66726D"/>
                </a:solidFill>
              </a:rPr>
              <a:t>calibrated sensor proposed for the pilot</a:t>
            </a:r>
          </a:p>
        </p:txBody>
      </p:sp>
      <p:sp>
        <p:nvSpPr>
          <p:cNvPr id="10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7FBBFB01-6CED-453A-8B3C-01B704C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1E"/>
                </a:solidFill>
              </a:defRPr>
            </a:pPr>
            <a:r>
              <a:rPr sz="2550" b="1">
                <a:solidFill>
                  <a:srgbClr val="18211E"/>
                </a:solidFill>
              </a:rPr>
              <a:t>The prototype does not hide this gap. It makes the gap actionable.</a:t>
            </a:r>
          </a:p>
        </p:txBody>
      </p:sp>
      <p:sp>
        <p:nvSpPr>
          <p:cNvPr id="11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7C5524F9-4057-438C-B957-E4100642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26D"/>
                </a:solidFill>
              </a:defRPr>
            </a:pPr>
            <a:r>
              <a:rPr sz="1800" b="0">
                <a:solidFill>
                  <a:srgbClr val="66726D"/>
                </a:solidFill>
              </a:rPr>
              <a:t>Use the regional model for situational awareness, select the best first field site, then publish validation evidence before claiming ward-level accuracy.</a:t>
            </a:r>
          </a:p>
        </p:txBody>
      </p:sp>
      <p:sp>
        <p:nvSpPr>
          <p:cNvPr id="1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97FB241A-B8F6-4EA8-847C-19C1A96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C65"/>
                </a:solidFill>
              </a:defRPr>
            </a:pPr>
            <a:r>
              <a:rPr sz="975" b="1">
                <a:solidFill>
                  <a:srgbClr val="0F7C65"/>
                </a:solidFill>
              </a:rPr>
              <a:t>AEROCHEM SENTINEL</a:t>
            </a:r>
          </a:p>
        </p:txBody>
      </p:sp>
      <p:sp>
        <p:nvSpPr>
          <p:cNvPr id="13" name="footer-index-2">
            <a:extLst xmlns:a="http://schemas.openxmlformats.org/drawingml/2006/main">
              <a:ext uri="{FF2B5EF4-FFF2-40B4-BE49-F238E27FC236}">
                <a16:creationId xmlns:a16="http://schemas.microsoft.com/office/drawing/2014/main" id="{195288BA-6CD2-401F-BBA6-DB31069A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6D"/>
                </a:solidFill>
              </a:defRPr>
            </a:pPr>
            <a:r>
              <a:rPr sz="975" b="1">
                <a:solidFill>
                  <a:srgbClr val="6672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6608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vidence-kicker">
            <a:extLst xmlns:a="http://schemas.openxmlformats.org/drawingml/2006/main">
              <a:ext uri="{FF2B5EF4-FFF2-40B4-BE49-F238E27FC236}">
                <a16:creationId xmlns:a16="http://schemas.microsoft.com/office/drawing/2014/main" id="{4E137E3C-1753-4E1B-ADF4-BE5D8FE6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C65"/>
                </a:solidFill>
              </a:defRPr>
            </a:pPr>
            <a:r>
              <a:rPr sz="1125" b="1">
                <a:solidFill>
                  <a:srgbClr val="0F7C65"/>
                </a:solidFill>
              </a:rPr>
              <a:t>WORKING PROTOTYPE</a:t>
            </a:r>
          </a:p>
        </p:txBody>
      </p:sp>
      <p:sp>
        <p:nvSpPr>
          <p:cNvPr id="2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34C4F00-65D0-4126-81F0-75C466D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11E"/>
                </a:solidFill>
              </a:defRPr>
            </a:pPr>
            <a:r>
              <a:rPr sz="3600" b="1">
                <a:solidFill>
                  <a:srgbClr val="18211E"/>
                </a:solidFill>
              </a:rPr>
              <a:t>Live context now includes modeled HCHO and NO₂.</a:t>
            </a:r>
          </a:p>
        </p:txBody>
      </p:sp>
      <p:sp>
        <p:nvSpPr>
          <p:cNvPr id="3" name="evidence-values">
            <a:extLst xmlns:a="http://schemas.openxmlformats.org/drawingml/2006/main">
              <a:ext uri="{FF2B5EF4-FFF2-40B4-BE49-F238E27FC236}">
                <a16:creationId xmlns:a16="http://schemas.microsoft.com/office/drawing/2014/main" id="{303C2ABD-5D41-4F63-882F-58C6390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FAA"/>
                </a:solidFill>
              </a:defRPr>
            </a:pPr>
            <a:r>
              <a:rPr sz="1650" b="1">
                <a:solidFill>
                  <a:srgbClr val="347FAA"/>
                </a:solidFill>
              </a:rPr>
              <a:t>US AQI 50   ·   HCHO 1.3 µg/m³   ·   NO₂ 4.5 µg/m³   ·   08 Aug 2026, 22:30 IST</a:t>
            </a:r>
          </a:p>
        </p:txBody>
      </p:sp>
      <p:sp>
        <p:nvSpPr>
          <p:cNvPr id="4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98D48CBD-FC3D-470F-93C5-46361734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2014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bb31b50d74754"/>
          <a:srcRect xmlns:a="http://schemas.openxmlformats.org/drawingml/2006/main" l="0" t="17050" r="0" b="17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85950"/>
            <a:ext cx="110490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3996C32A-F8BB-465B-8DC5-E28074CD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B32"/>
                </a:solidFill>
              </a:defRPr>
            </a:pPr>
            <a:r>
              <a:rPr sz="1200" b="1">
                <a:solidFill>
                  <a:srgbClr val="E66B32"/>
                </a:solidFill>
              </a:rPr>
              <a:t>CAMS near-surface model · not Sentinel-5P column data · not a sensor reading</a:t>
            </a:r>
          </a:p>
        </p:txBody>
      </p:sp>
      <p:sp>
        <p:nvSpPr>
          <p:cNvPr id="7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1ED6E801-3C65-4385-A209-9660B78C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C65"/>
                </a:solidFill>
              </a:defRPr>
            </a:pPr>
            <a:r>
              <a:rPr sz="975" b="1">
                <a:solidFill>
                  <a:srgbClr val="0F7C65"/>
                </a:solidFill>
              </a:rPr>
              <a:t>AEROCHEM SENTINEL</a:t>
            </a:r>
          </a:p>
        </p:txBody>
      </p:sp>
      <p:sp>
        <p:nvSpPr>
          <p:cNvPr id="8" name="footer-index-3">
            <a:extLst xmlns:a="http://schemas.openxmlformats.org/drawingml/2006/main">
              <a:ext uri="{FF2B5EF4-FFF2-40B4-BE49-F238E27FC236}">
                <a16:creationId xmlns:a16="http://schemas.microsoft.com/office/drawing/2014/main" id="{28568F25-332B-459C-BE43-23315F24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6D"/>
                </a:solidFill>
              </a:defRPr>
            </a:pPr>
            <a:r>
              <a:rPr sz="975" b="1">
                <a:solidFill>
                  <a:srgbClr val="6672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203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nsor-kicker">
            <a:extLst xmlns:a="http://schemas.openxmlformats.org/drawingml/2006/main">
              <a:ext uri="{FF2B5EF4-FFF2-40B4-BE49-F238E27FC236}">
                <a16:creationId xmlns:a16="http://schemas.microsoft.com/office/drawing/2014/main" id="{DF8E1F5B-FE0E-4AEC-818E-F8772152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C65"/>
                </a:solidFill>
              </a:defRPr>
            </a:pPr>
            <a:r>
              <a:rPr sz="1125" b="1">
                <a:solidFill>
                  <a:srgbClr val="0F7C65"/>
                </a:solidFill>
              </a:rPr>
              <a:t>FIRST DECISION</a:t>
            </a:r>
          </a:p>
        </p:txBody>
      </p:sp>
      <p:sp>
        <p:nvSpPr>
          <p:cNvPr id="2" name="sensor-title">
            <a:extLst xmlns:a="http://schemas.openxmlformats.org/drawingml/2006/main">
              <a:ext uri="{FF2B5EF4-FFF2-40B4-BE49-F238E27FC236}">
                <a16:creationId xmlns:a16="http://schemas.microsoft.com/office/drawing/2014/main" id="{5FB425B2-17A1-46E8-BBE0-B3DA8E91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11E"/>
                </a:solidFill>
              </a:defRPr>
            </a:pPr>
            <a:r>
              <a:rPr sz="3600" b="1">
                <a:solidFill>
                  <a:srgbClr val="18211E"/>
                </a:solidFill>
              </a:rPr>
              <a:t>Start where one sensor creates the most learning.</a:t>
            </a:r>
          </a:p>
        </p:txBody>
      </p:sp>
      <p:sp>
        <p:nvSpPr>
          <p:cNvPr id="3" name="sensor-image-frame">
            <a:extLst xmlns:a="http://schemas.openxmlformats.org/drawingml/2006/main">
              <a:ext uri="{FF2B5EF4-FFF2-40B4-BE49-F238E27FC236}">
                <a16:creationId xmlns:a16="http://schemas.microsoft.com/office/drawing/2014/main" id="{E3E0CA47-7AA9-42FC-810C-836323C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2390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9bf9f8e80449d"/>
          <a:srcRect xmlns:a="http://schemas.openxmlformats.org/drawingml/2006/main" l="4511" t="0" r="45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38300"/>
            <a:ext cx="70866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sensor-score">
            <a:extLst xmlns:a="http://schemas.openxmlformats.org/drawingml/2006/main">
              <a:ext uri="{FF2B5EF4-FFF2-40B4-BE49-F238E27FC236}">
                <a16:creationId xmlns:a16="http://schemas.microsoft.com/office/drawing/2014/main" id="{C1F17B32-ADC7-4028-A44F-A4E9CF0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F7C65"/>
                </a:solidFill>
              </a:defRPr>
            </a:pPr>
            <a:r>
              <a:rPr sz="5250" b="1">
                <a:solidFill>
                  <a:srgbClr val="0F7C65"/>
                </a:solidFill>
              </a:rPr>
              <a:t>87/100</a:t>
            </a:r>
          </a:p>
        </p:txBody>
      </p:sp>
      <p:sp>
        <p:nvSpPr>
          <p:cNvPr id="6" name="sensor-name">
            <a:extLst xmlns:a="http://schemas.openxmlformats.org/drawingml/2006/main">
              <a:ext uri="{FF2B5EF4-FFF2-40B4-BE49-F238E27FC236}">
                <a16:creationId xmlns:a16="http://schemas.microsoft.com/office/drawing/2014/main" id="{B87D503A-6B2E-4C9D-A481-50E38A1C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11E"/>
                </a:solidFill>
              </a:defRPr>
            </a:pPr>
            <a:r>
              <a:rPr sz="2025" b="1">
                <a:solidFill>
                  <a:srgbClr val="18211E"/>
                </a:solidFill>
              </a:rPr>
              <a:t>Central Malegaon civic zone</a:t>
            </a:r>
          </a:p>
        </p:txBody>
      </p:sp>
      <p:sp>
        <p:nvSpPr>
          <p:cNvPr id="7" name="sensor-metrics">
            <a:extLst xmlns:a="http://schemas.openxmlformats.org/drawingml/2006/main">
              <a:ext uri="{FF2B5EF4-FFF2-40B4-BE49-F238E27FC236}">
                <a16:creationId xmlns:a16="http://schemas.microsoft.com/office/drawing/2014/main" id="{FB9635D3-9401-45B1-97E2-D730F154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26D"/>
                </a:solidFill>
              </a:defRPr>
            </a:pPr>
            <a:r>
              <a:rPr sz="1725" b="0">
                <a:solidFill>
                  <a:srgbClr val="66726D"/>
                </a:solidFill>
              </a:rPr>
              <a:t>3 km planning radius</a:t>
            </a:r>
          </a:p>
          <a:p xmlns:a="http://schemas.openxmlformats.org/drawingml/2006/main">
            <a:pPr algn="l">
              <a:defRPr sz="1725" b="0">
                <a:solidFill>
                  <a:srgbClr val="66726D"/>
                </a:solidFill>
              </a:defRPr>
            </a:pPr>
            <a:r>
              <a:rPr sz="1725" b="0">
                <a:solidFill>
                  <a:srgbClr val="66726D"/>
                </a:solidFill>
              </a:rPr>
              <a:t>54 mapped sensitive sites</a:t>
            </a:r>
          </a:p>
          <a:p xmlns:a="http://schemas.openxmlformats.org/drawingml/2006/main">
            <a:pPr algn="l">
              <a:defRPr sz="1725" b="0">
                <a:solidFill>
                  <a:srgbClr val="66726D"/>
                </a:solidFill>
              </a:defRPr>
            </a:pPr>
            <a:r>
              <a:rPr sz="1725" b="0">
                <a:solidFill>
                  <a:srgbClr val="66726D"/>
                </a:solidFill>
              </a:rPr>
              <a:t>4 candidates compared</a:t>
            </a:r>
          </a:p>
        </p:txBody>
      </p:sp>
      <p:sp>
        <p:nvSpPr>
          <p:cNvPr id="8" name="sensor-note-rule">
            <a:extLst xmlns:a="http://schemas.openxmlformats.org/drawingml/2006/main">
              <a:ext uri="{FF2B5EF4-FFF2-40B4-BE49-F238E27FC236}">
                <a16:creationId xmlns:a16="http://schemas.microsoft.com/office/drawing/2014/main" id="{73FAD3C3-0CCE-4869-85DB-8270E243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nsor-note">
            <a:extLst xmlns:a="http://schemas.openxmlformats.org/drawingml/2006/main">
              <a:ext uri="{FF2B5EF4-FFF2-40B4-BE49-F238E27FC236}">
                <a16:creationId xmlns:a16="http://schemas.microsoft.com/office/drawing/2014/main" id="{D94DBF79-11C2-4379-88A6-0510E523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6B32"/>
                </a:solidFill>
              </a:defRPr>
            </a:pPr>
            <a:r>
              <a:rPr sz="1500" b="1">
                <a:solidFill>
                  <a:srgbClr val="E66B32"/>
                </a:solidFill>
              </a:rPr>
              <a:t>Transparent planning heuristic—not measured pollution proof.</a:t>
            </a:r>
          </a:p>
        </p:txBody>
      </p:sp>
      <p:sp>
        <p:nvSpPr>
          <p:cNvPr id="10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89F37039-321F-4AA9-854F-CBEC85D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C65"/>
                </a:solidFill>
              </a:defRPr>
            </a:pPr>
            <a:r>
              <a:rPr sz="975" b="1">
                <a:solidFill>
                  <a:srgbClr val="0F7C65"/>
                </a:solidFill>
              </a:rPr>
              <a:t>AEROCHEM SENTINEL</a:t>
            </a:r>
          </a:p>
        </p:txBody>
      </p:sp>
      <p:sp>
        <p:nvSpPr>
          <p:cNvPr id="11" name="footer-index-4">
            <a:extLst xmlns:a="http://schemas.openxmlformats.org/drawingml/2006/main">
              <a:ext uri="{FF2B5EF4-FFF2-40B4-BE49-F238E27FC236}">
                <a16:creationId xmlns:a16="http://schemas.microsoft.com/office/drawing/2014/main" id="{42C34FEB-7AF0-4EBF-9740-4C92DC56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6D"/>
                </a:solidFill>
              </a:defRPr>
            </a:pPr>
            <a:r>
              <a:rPr sz="975" b="1">
                <a:solidFill>
                  <a:srgbClr val="6672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2124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ilot-kicker">
            <a:extLst xmlns:a="http://schemas.openxmlformats.org/drawingml/2006/main">
              <a:ext uri="{FF2B5EF4-FFF2-40B4-BE49-F238E27FC236}">
                <a16:creationId xmlns:a16="http://schemas.microsoft.com/office/drawing/2014/main" id="{282E1867-E753-4AB5-8E22-7E3C839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6B32"/>
                </a:solidFill>
              </a:defRPr>
            </a:pPr>
            <a:r>
              <a:rPr sz="1125" b="1">
                <a:solidFill>
                  <a:srgbClr val="E66B32"/>
                </a:solidFill>
              </a:rPr>
              <a:t>ACTION + FEASIBILITY</a:t>
            </a:r>
          </a:p>
        </p:txBody>
      </p:sp>
      <p:sp>
        <p:nvSpPr>
          <p:cNvPr id="2" name="pilot-title">
            <a:extLst xmlns:a="http://schemas.openxmlformats.org/drawingml/2006/main">
              <a:ext uri="{FF2B5EF4-FFF2-40B4-BE49-F238E27FC236}">
                <a16:creationId xmlns:a16="http://schemas.microsoft.com/office/drawing/2014/main" id="{6D0572CD-D616-4486-83F0-D9881BD8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11E"/>
                </a:solidFill>
              </a:defRPr>
            </a:pPr>
            <a:r>
              <a:rPr sz="3600" b="1">
                <a:solidFill>
                  <a:srgbClr val="18211E"/>
                </a:solidFill>
              </a:rPr>
              <a:t>Test one action—then validate it in the field.</a:t>
            </a:r>
          </a:p>
        </p:txBody>
      </p:sp>
      <p:sp>
        <p:nvSpPr>
          <p:cNvPr id="3" name="pilot-image-frame">
            <a:extLst xmlns:a="http://schemas.openxmlformats.org/drawingml/2006/main">
              <a:ext uri="{FF2B5EF4-FFF2-40B4-BE49-F238E27FC236}">
                <a16:creationId xmlns:a16="http://schemas.microsoft.com/office/drawing/2014/main" id="{1F2494BE-E120-4D93-8B88-1023E20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5411faf18466e"/>
          <a:srcRect xmlns:a="http://schemas.openxmlformats.org/drawingml/2006/main" l="6929" t="0" r="69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38300"/>
            <a:ext cx="6038850" cy="3943350"/>
          </a:xfrm>
          <a:prstGeom xmlns:a="http://schemas.openxmlformats.org/drawingml/2006/main" prst="rect">
            <a:avLst/>
          </a:prstGeom>
        </p:spPr>
      </p:pic>
      <p:sp>
        <p:nvSpPr>
          <p:cNvPr id="5" name="pilot-time">
            <a:extLst xmlns:a="http://schemas.openxmlformats.org/drawingml/2006/main">
              <a:ext uri="{FF2B5EF4-FFF2-40B4-BE49-F238E27FC236}">
                <a16:creationId xmlns:a16="http://schemas.microsoft.com/office/drawing/2014/main" id="{0F70D02A-067D-4C00-900F-E2A73D0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7C65"/>
                </a:solidFill>
              </a:defRPr>
            </a:pPr>
            <a:r>
              <a:rPr sz="4650" b="1">
                <a:solidFill>
                  <a:srgbClr val="0F7C65"/>
                </a:solidFill>
              </a:rPr>
              <a:t>12 weeks</a:t>
            </a:r>
          </a:p>
        </p:txBody>
      </p:sp>
      <p:sp>
        <p:nvSpPr>
          <p:cNvPr id="6" name="pilot-time-label">
            <a:extLst xmlns:a="http://schemas.openxmlformats.org/drawingml/2006/main">
              <a:ext uri="{FF2B5EF4-FFF2-40B4-BE49-F238E27FC236}">
                <a16:creationId xmlns:a16="http://schemas.microsoft.com/office/drawing/2014/main" id="{2FC880E1-BBAA-4A72-BCAD-B17174F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26D"/>
                </a:solidFill>
              </a:defRPr>
            </a:pPr>
            <a:r>
              <a:rPr sz="1575" b="0">
                <a:solidFill>
                  <a:srgbClr val="66726D"/>
                </a:solidFill>
              </a:rPr>
              <a:t>from site verification to public review</a:t>
            </a:r>
          </a:p>
        </p:txBody>
      </p:sp>
      <p:sp>
        <p:nvSpPr>
          <p:cNvPr id="7" name="pilot-cost">
            <a:extLst xmlns:a="http://schemas.openxmlformats.org/drawingml/2006/main">
              <a:ext uri="{FF2B5EF4-FFF2-40B4-BE49-F238E27FC236}">
                <a16:creationId xmlns:a16="http://schemas.microsoft.com/office/drawing/2014/main" id="{E969970E-F3CF-426B-8124-407AA43C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47FAA"/>
                </a:solidFill>
              </a:defRPr>
            </a:pPr>
            <a:r>
              <a:rPr sz="4350" b="1">
                <a:solidFill>
                  <a:srgbClr val="347FAA"/>
                </a:solidFill>
              </a:rPr>
              <a:t>₹1.86 lakh</a:t>
            </a:r>
          </a:p>
        </p:txBody>
      </p:sp>
      <p:sp>
        <p:nvSpPr>
          <p:cNvPr id="8" name="pilot-cost-label">
            <a:extLst xmlns:a="http://schemas.openxmlformats.org/drawingml/2006/main">
              <a:ext uri="{FF2B5EF4-FFF2-40B4-BE49-F238E27FC236}">
                <a16:creationId xmlns:a16="http://schemas.microsoft.com/office/drawing/2014/main" id="{1D48E458-6432-4250-8412-2116030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26D"/>
                </a:solidFill>
              </a:defRPr>
            </a:pPr>
            <a:r>
              <a:rPr sz="1575" b="0">
                <a:solidFill>
                  <a:srgbClr val="66726D"/>
                </a:solidFill>
              </a:rPr>
              <a:t>editable year-one planning assumption</a:t>
            </a:r>
          </a:p>
        </p:txBody>
      </p:sp>
      <p:sp>
        <p:nvSpPr>
          <p:cNvPr id="9" name="pilot-steps">
            <a:extLst xmlns:a="http://schemas.openxmlformats.org/drawingml/2006/main">
              <a:ext uri="{FF2B5EF4-FFF2-40B4-BE49-F238E27FC236}">
                <a16:creationId xmlns:a16="http://schemas.microsoft.com/office/drawing/2014/main" id="{9E3FD20D-0E84-4F86-8441-30184EC8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E"/>
                </a:solidFill>
              </a:defRPr>
            </a:pPr>
            <a:r>
              <a:rPr sz="1725" b="1">
                <a:solidFill>
                  <a:srgbClr val="18211E"/>
                </a:solidFill>
              </a:rPr>
              <a:t>Calibrate → compare → publish MAE / RMSE / R² → review one ward intervention</a:t>
            </a:r>
          </a:p>
        </p:txBody>
      </p:sp>
      <p:sp>
        <p:nvSpPr>
          <p:cNvPr id="10" name="pilot-caveat">
            <a:extLst xmlns:a="http://schemas.openxmlformats.org/drawingml/2006/main">
              <a:ext uri="{FF2B5EF4-FFF2-40B4-BE49-F238E27FC236}">
                <a16:creationId xmlns:a16="http://schemas.microsoft.com/office/drawing/2014/main" id="{AEB1F8D5-293D-4F22-BEE4-320914D6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B32"/>
                </a:solidFill>
              </a:defRPr>
            </a:pPr>
            <a:r>
              <a:rPr sz="1200" b="1">
                <a:solidFill>
                  <a:srgbClr val="E66B32"/>
                </a:solidFill>
              </a:rPr>
              <a:t>Simulation percentages are illustrative, not forecasts.</a:t>
            </a:r>
          </a:p>
        </p:txBody>
      </p:sp>
      <p:sp>
        <p:nvSpPr>
          <p:cNvPr id="11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2076DE4C-2674-43C7-85BC-6232EA33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C65"/>
                </a:solidFill>
              </a:defRPr>
            </a:pPr>
            <a:r>
              <a:rPr sz="975" b="1">
                <a:solidFill>
                  <a:srgbClr val="0F7C65"/>
                </a:solidFill>
              </a:rPr>
              <a:t>AEROCHEM SENTINEL</a:t>
            </a:r>
          </a:p>
        </p:txBody>
      </p:sp>
      <p:sp>
        <p:nvSpPr>
          <p:cNvPr id="12" name="footer-index-5">
            <a:extLst xmlns:a="http://schemas.openxmlformats.org/drawingml/2006/main">
              <a:ext uri="{FF2B5EF4-FFF2-40B4-BE49-F238E27FC236}">
                <a16:creationId xmlns:a16="http://schemas.microsoft.com/office/drawing/2014/main" id="{7A1EFDEC-3B32-4B75-9EB8-0370926E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6D"/>
                </a:solidFill>
              </a:defRPr>
            </a:pPr>
            <a:r>
              <a:rPr sz="975" b="1">
                <a:solidFill>
                  <a:srgbClr val="6672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7568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sk-kicker">
            <a:extLst xmlns:a="http://schemas.openxmlformats.org/drawingml/2006/main">
              <a:ext uri="{FF2B5EF4-FFF2-40B4-BE49-F238E27FC236}">
                <a16:creationId xmlns:a16="http://schemas.microsoft.com/office/drawing/2014/main" id="{157C37E7-6A55-4A54-BDA4-BDDA694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E66D"/>
                </a:solidFill>
              </a:defRPr>
            </a:pPr>
            <a:r>
              <a:rPr sz="1200" b="1">
                <a:solidFill>
                  <a:srgbClr val="C7E66D"/>
                </a:solidFill>
              </a:rPr>
              <a:t>THE ASK</a:t>
            </a:r>
          </a:p>
        </p:txBody>
      </p:sp>
      <p:sp>
        <p:nvSpPr>
          <p:cNvPr id="2" name="ask-title">
            <a:extLst xmlns:a="http://schemas.openxmlformats.org/drawingml/2006/main">
              <a:ext uri="{FF2B5EF4-FFF2-40B4-BE49-F238E27FC236}">
                <a16:creationId xmlns:a16="http://schemas.microsoft.com/office/drawing/2014/main" id="{BDB92AC2-33AF-4589-A119-BF5F4DAE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Approve a 12-week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validation pilot.</a:t>
            </a:r>
          </a:p>
        </p:txBody>
      </p:sp>
      <p:sp>
        <p:nvSpPr>
          <p:cNvPr id="3" name="ask-rule">
            <a:extLst xmlns:a="http://schemas.openxmlformats.org/drawingml/2006/main">
              <a:ext uri="{FF2B5EF4-FFF2-40B4-BE49-F238E27FC236}">
                <a16:creationId xmlns:a16="http://schemas.microsoft.com/office/drawing/2014/main" id="{75C6D1A2-81B6-4618-9EB7-26038249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k-1-num">
            <a:extLst xmlns:a="http://schemas.openxmlformats.org/drawingml/2006/main">
              <a:ext uri="{FF2B5EF4-FFF2-40B4-BE49-F238E27FC236}">
                <a16:creationId xmlns:a16="http://schemas.microsoft.com/office/drawing/2014/main" id="{02403DF8-DAEF-4DD2-91F9-380C6E01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E66D"/>
                </a:solidFill>
              </a:defRPr>
            </a:pPr>
            <a:r>
              <a:rPr sz="1500" b="1">
                <a:solidFill>
                  <a:srgbClr val="C7E66D"/>
                </a:solidFill>
              </a:rPr>
              <a:t>01</a:t>
            </a:r>
          </a:p>
        </p:txBody>
      </p:sp>
      <p:sp>
        <p:nvSpPr>
          <p:cNvPr id="5" name="ask-1">
            <a:extLst xmlns:a="http://schemas.openxmlformats.org/drawingml/2006/main">
              <a:ext uri="{FF2B5EF4-FFF2-40B4-BE49-F238E27FC236}">
                <a16:creationId xmlns:a16="http://schemas.microsoft.com/office/drawing/2014/main" id="{59B6C92F-B878-4BC4-AFD4-E31BFB83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Install and co-locate one calibrated sensor.</a:t>
            </a:r>
          </a:p>
        </p:txBody>
      </p:sp>
      <p:sp>
        <p:nvSpPr>
          <p:cNvPr id="6" name="ask-2-num">
            <a:extLst xmlns:a="http://schemas.openxmlformats.org/drawingml/2006/main">
              <a:ext uri="{FF2B5EF4-FFF2-40B4-BE49-F238E27FC236}">
                <a16:creationId xmlns:a16="http://schemas.microsoft.com/office/drawing/2014/main" id="{003CBB40-2D61-4AA3-A575-950CF84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E66D"/>
                </a:solidFill>
              </a:defRPr>
            </a:pPr>
            <a:r>
              <a:rPr sz="1500" b="1">
                <a:solidFill>
                  <a:srgbClr val="C7E66D"/>
                </a:solidFill>
              </a:rPr>
              <a:t>02</a:t>
            </a:r>
          </a:p>
        </p:txBody>
      </p:sp>
      <p:sp>
        <p:nvSpPr>
          <p:cNvPr id="7" name="ask-2">
            <a:extLst xmlns:a="http://schemas.openxmlformats.org/drawingml/2006/main">
              <a:ext uri="{FF2B5EF4-FFF2-40B4-BE49-F238E27FC236}">
                <a16:creationId xmlns:a16="http://schemas.microsoft.com/office/drawing/2014/main" id="{136B7E0A-F000-4431-B755-2A06B581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Publish time-aware validation metrics and uncertainty.</a:t>
            </a:r>
          </a:p>
        </p:txBody>
      </p:sp>
      <p:sp>
        <p:nvSpPr>
          <p:cNvPr id="8" name="ask-3-num">
            <a:extLst xmlns:a="http://schemas.openxmlformats.org/drawingml/2006/main">
              <a:ext uri="{FF2B5EF4-FFF2-40B4-BE49-F238E27FC236}">
                <a16:creationId xmlns:a16="http://schemas.microsoft.com/office/drawing/2014/main" id="{401E3937-9A62-496E-8E92-7562EAD0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E66D"/>
                </a:solidFill>
              </a:defRPr>
            </a:pPr>
            <a:r>
              <a:rPr sz="1500" b="1">
                <a:solidFill>
                  <a:srgbClr val="C7E66D"/>
                </a:solidFill>
              </a:rPr>
              <a:t>03</a:t>
            </a:r>
          </a:p>
        </p:txBody>
      </p:sp>
      <p:sp>
        <p:nvSpPr>
          <p:cNvPr id="9" name="ask-3">
            <a:extLst xmlns:a="http://schemas.openxmlformats.org/drawingml/2006/main">
              <a:ext uri="{FF2B5EF4-FFF2-40B4-BE49-F238E27FC236}">
                <a16:creationId xmlns:a16="http://schemas.microsoft.com/office/drawing/2014/main" id="{43542E6C-EC50-4621-AC89-E9965B5C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43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Give schools, clinics and civic teams a five-minute brief.</a:t>
            </a:r>
          </a:p>
        </p:txBody>
      </p:sp>
      <p:sp>
        <p:nvSpPr>
          <p:cNvPr id="10" name="ask-team">
            <a:extLst xmlns:a="http://schemas.openxmlformats.org/drawingml/2006/main">
              <a:ext uri="{FF2B5EF4-FFF2-40B4-BE49-F238E27FC236}">
                <a16:creationId xmlns:a16="http://schemas.microsoft.com/office/drawing/2014/main" id="{F46076FF-440F-4374-8FCA-59457355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AD2CD"/>
                </a:solidFill>
              </a:defRPr>
            </a:pPr>
            <a:r>
              <a:rPr sz="1350" b="0">
                <a:solidFill>
                  <a:srgbClr val="CAD2CD"/>
                </a:solidFill>
              </a:rPr>
              <a:t>Khushi · Domain &amp; problem   |   Vaishnavi · ML &amp; data   |   Sumit · Dashboard &amp; integration</a:t>
            </a:r>
          </a:p>
        </p:txBody>
      </p:sp>
      <p:sp>
        <p:nvSpPr>
          <p:cNvPr id="11" name="ask-link">
            <a:extLst xmlns:a="http://schemas.openxmlformats.org/drawingml/2006/main">
              <a:ext uri="{FF2B5EF4-FFF2-40B4-BE49-F238E27FC236}">
                <a16:creationId xmlns:a16="http://schemas.microsoft.com/office/drawing/2014/main" id="{B3D6310A-22BD-4E7C-9F6E-FE538235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6B32"/>
                </a:solidFill>
              </a:defRPr>
            </a:pPr>
            <a:r>
              <a:rPr sz="1650" b="1">
                <a:solidFill>
                  <a:srgbClr val="E66B32"/>
                </a:solidFill>
              </a:rPr>
              <a:t>LIVE DEMO  →  sumitpawar2006.github.io/aerochem-sentinel</a:t>
            </a:r>
          </a:p>
        </p:txBody>
      </p:sp>
      <p:sp>
        <p:nvSpPr>
          <p:cNvPr id="12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09690327-2EE7-4F84-B2F8-58A92C81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E66D"/>
                </a:solidFill>
              </a:defRPr>
            </a:pPr>
            <a:r>
              <a:rPr sz="975" b="1">
                <a:solidFill>
                  <a:srgbClr val="C7E66D"/>
                </a:solidFill>
              </a:rPr>
              <a:t>AEROCHEM SENTINEL</a:t>
            </a:r>
          </a:p>
        </p:txBody>
      </p:sp>
      <p:sp>
        <p:nvSpPr>
          <p:cNvPr id="13" name="footer-index-6">
            <a:extLst xmlns:a="http://schemas.openxmlformats.org/drawingml/2006/main">
              <a:ext uri="{FF2B5EF4-FFF2-40B4-BE49-F238E27FC236}">
                <a16:creationId xmlns:a16="http://schemas.microsoft.com/office/drawing/2014/main" id="{9B4F363B-AD3D-4F2B-8247-443DBBF8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7630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2026-08-08T17:35:50.9410000Z</dcterms:created>
  <dcterms:modified xsi:type="dcterms:W3CDTF">2026-08-08T17:35:50.9410000Z</dcterms:modified>
</coreProperties>
</file>