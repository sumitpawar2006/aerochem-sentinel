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87dced73234ffc" /><Relationship Type="http://schemas.openxmlformats.org/officeDocument/2006/relationships/extended-properties" Target="/docProps/app.xml" Id="Rc8c7fe1753a74cad" /><Relationship Type="http://schemas.openxmlformats.org/officeDocument/2006/relationships/officeDocument" Target="/ppt/presentation.xml" Id="R8059113e6dc14d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6245d787b4441c"/>
  </p:sldMasterIdLst>
  <p:notesMasterIdLst>
    <p:notesMasterId xmlns:r="http://schemas.openxmlformats.org/officeDocument/2006/relationships" r:id="Rcaf466ac34af4954"/>
  </p:notesMasterIdLst>
  <p:sldIdLst>
    <p:sldId xmlns:r="http://schemas.openxmlformats.org/officeDocument/2006/relationships" id="256" r:id="R49e6198bae2d40df"/>
    <p:sldId xmlns:r="http://schemas.openxmlformats.org/officeDocument/2006/relationships" id="257" r:id="R1bdbfeedde844b37"/>
    <p:sldId xmlns:r="http://schemas.openxmlformats.org/officeDocument/2006/relationships" id="258" r:id="Rabff2f0ffe554c61"/>
    <p:sldId xmlns:r="http://schemas.openxmlformats.org/officeDocument/2006/relationships" id="259" r:id="Rca0873462b464b00"/>
    <p:sldId xmlns:r="http://schemas.openxmlformats.org/officeDocument/2006/relationships" id="260" r:id="Rf045d99060e3463f"/>
    <p:sldId xmlns:r="http://schemas.openxmlformats.org/officeDocument/2006/relationships" id="261" r:id="Rba7bcfda5e9948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2d443318184a18" /><Relationship Type="http://schemas.openxmlformats.org/officeDocument/2006/relationships/slideMaster" Target="/ppt/slideMasters/slideMaster1.xml" Id="R406245d787b4441c" /><Relationship Type="http://schemas.openxmlformats.org/officeDocument/2006/relationships/notesMaster" Target="/ppt/notesMasters/notesMaster1.xml" Id="Rcaf466ac34af4954" /><Relationship Type="http://schemas.openxmlformats.org/officeDocument/2006/relationships/presProps" Target="/ppt/presProps.xml" Id="R16b30eb456cf4c69" /><Relationship Type="http://schemas.openxmlformats.org/officeDocument/2006/relationships/tableStyles" Target="/ppt/tableStyles.xml" Id="Rb836d8db56eb4424" /><Relationship Type="http://schemas.openxmlformats.org/officeDocument/2006/relationships/slide" Target="/ppt/slides/slide1.xml" Id="R49e6198bae2d40df" /><Relationship Type="http://schemas.openxmlformats.org/officeDocument/2006/relationships/slide" Target="/ppt/slides/slide2.xml" Id="R1bdbfeedde844b37" /><Relationship Type="http://schemas.openxmlformats.org/officeDocument/2006/relationships/slide" Target="/ppt/slides/slide3.xml" Id="Rabff2f0ffe554c61" /><Relationship Type="http://schemas.openxmlformats.org/officeDocument/2006/relationships/slide" Target="/ppt/slides/slide4.xml" Id="Rca0873462b464b00" /><Relationship Type="http://schemas.openxmlformats.org/officeDocument/2006/relationships/slide" Target="/ppt/slides/slide5.xml" Id="Rf045d99060e3463f" /><Relationship Type="http://schemas.openxmlformats.org/officeDocument/2006/relationships/slide" Target="/ppt/slides/slide6.xml" Id="Rba7bcfda5e9948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047d46968c4c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9b870a640f4c22" /><Relationship Type="http://schemas.openxmlformats.org/officeDocument/2006/relationships/notesMaster" Target="/ppt/notesMasters/notesMaster1.xml" Id="Ra3879f7797724f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3cbb420b25465d" /><Relationship Type="http://schemas.openxmlformats.org/officeDocument/2006/relationships/notesMaster" Target="/ppt/notesMasters/notesMaster1.xml" Id="Re564d4d9d4084b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b7a801c95f4d98" /><Relationship Type="http://schemas.openxmlformats.org/officeDocument/2006/relationships/notesMaster" Target="/ppt/notesMasters/notesMaster1.xml" Id="R619921591cac41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2d4cf2b5fa4206" /><Relationship Type="http://schemas.openxmlformats.org/officeDocument/2006/relationships/notesMaster" Target="/ppt/notesMasters/notesMaster1.xml" Id="R40606543bfb84b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a2ed4cfcfd4f75" /><Relationship Type="http://schemas.openxmlformats.org/officeDocument/2006/relationships/notesMaster" Target="/ppt/notesMasters/notesMaster1.xml" Id="R356bf415406a48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6042a4fd5248f9" /><Relationship Type="http://schemas.openxmlformats.org/officeDocument/2006/relationships/notesMaster" Target="/ppt/notesMasters/notesMaster1.xml" Id="R811d067f0a3c44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Khushi opens: Malegaon needs local pollution evidence. AeroChem Sentinel turns transparent regional model context into a first monitoring and intervention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https://sumitpawar2006.github.io/aerochem-sentinel/</a:t>
            </a:r>
          </a:p>
          <a:p xmlns:a="http://schemas.openxmlformats.org/drawingml/2006/main">
            <a:r>
              <a:t>- Dashboard screenshot refreshed 09 Aug 2026 from the working prototype.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Vaishnavi explains: CAMS gives a 0.4-degree global atmospheric model, approximately 45 km. That is not a local sensor. Our scientific contribution is to preserve that distinction and define the validation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https://open-meteo.com/en/docs/air-quality-api</a:t>
            </a:r>
          </a:p>
          <a:p xmlns:a="http://schemas.openxmlformats.org/drawingml/2006/main">
            <a:r>
              <a:t>- AeroChem Sentinel project data contract and Method panel.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Sumit enables the Sentinel-5P layer in the live site. Emphasize the labels: NASA GIBS supplies the dated atmospheric NO2 column, while the numeric HCHO, NO2 and AQI values remain CAMS near-surface model context. Neither is presented as a ground-sensor reading.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https://open-meteo.com/en/docs/air-quality-api</a:t>
            </a:r>
          </a:p>
          <a:p xmlns:a="http://schemas.openxmlformats.org/drawingml/2006/main">
            <a:r>
              <a:t>- https://gibs.earthdata.nasa.gov/layer-metadata/v1.0/TROPOMI_L2_Nitrogen_Dioxide_Tropospheric_Column.json</a:t>
            </a:r>
          </a:p>
          <a:p xmlns:a="http://schemas.openxmlformats.org/drawingml/2006/main">
            <a:r>
              <a:t>- Dashboard snapshot refreshed 09 Aug 2026 at Malegaon coordinates.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Sumit shows the recommended site. State exactly how to trust it: the weights, candidates and 3 km planning radius are visible. Field verification and permission checks happen in weeks 1 and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AeroChem Sentinel data/decision-model.json</a:t>
            </a:r>
          </a:p>
          <a:p xmlns:a="http://schemas.openxmlformats.org/drawingml/2006/main">
            <a:r>
              <a:t>- https://www.openstreetmap.org/copyright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Khushi presents feasibility. The intervention tool is an assumption sandbox, not a forecast. The pilot is designed to replace blank validation fields with published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AeroChem Sentinel data/decision-model.json</a:t>
            </a:r>
          </a:p>
          <a:p xmlns:a="http://schemas.openxmlformats.org/drawingml/2006/main">
            <a:r>
              <a:t>- AeroChem Sentinel Method and Trends panels.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Sumit closes with the ask. Do not end with a feature list. Ask for the pilot that converts regional context into local validation and community communication.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AeroChem Sentinel Complete Project Manual</a:t>
            </a:r>
          </a:p>
          <a:p xmlns:a="http://schemas.openxmlformats.org/drawingml/2006/main">
            <a:r>
              <a:t>- AeroChem Sentinel Samarthya 2026 project deck</a:t>
            </a:r>
          </a:p>
          <a:p xmlns:a="http://schemas.openxmlformats.org/drawingml/2006/main">
            <a:r>
              <a:t>- https://sumitpawar2006.github.io/aerochem-sentinel/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650b1c175c4f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a82bbe01cd4e9a" /><Relationship Type="http://schemas.openxmlformats.org/officeDocument/2006/relationships/slideLayout" Target="/ppt/slideLayouts/slideLayout1.xml" Id="Rb6f75e0e351a42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f75e0e351a42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a9e37482e34013" /><Relationship Type="http://schemas.openxmlformats.org/officeDocument/2006/relationships/image" Target="/ppt/media/image.jpeg" Id="Rb096be0dfe1049ad" /><Relationship Type="http://schemas.openxmlformats.org/officeDocument/2006/relationships/notesSlide" Target="/ppt/notesSlides/notesSlide1.xml" Id="R3bc7ac9c43cb46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b82227357452c" /><Relationship Type="http://schemas.openxmlformats.org/officeDocument/2006/relationships/notesSlide" Target="/ppt/notesSlides/notesSlide2.xml" Id="R34ca07769be442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35a1b63fe4e6a" /><Relationship Type="http://schemas.openxmlformats.org/officeDocument/2006/relationships/image" Target="/ppt/media/image2.jpeg" Id="R95903942ef274606" /><Relationship Type="http://schemas.openxmlformats.org/officeDocument/2006/relationships/notesSlide" Target="/ppt/notesSlides/notesSlide3.xml" Id="R52d12571ca414d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766120b6264e74" /><Relationship Type="http://schemas.openxmlformats.org/officeDocument/2006/relationships/image" Target="/ppt/media/image3.jpeg" Id="R950dd93f14c943c3" /><Relationship Type="http://schemas.openxmlformats.org/officeDocument/2006/relationships/notesSlide" Target="/ppt/notesSlides/notesSlide4.xml" Id="R1b01eedb980b49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9eb14d76904baa" /><Relationship Type="http://schemas.openxmlformats.org/officeDocument/2006/relationships/image" Target="/ppt/media/image4.jpeg" Id="Rbd6762e4ebd24e87" /><Relationship Type="http://schemas.openxmlformats.org/officeDocument/2006/relationships/notesSlide" Target="/ppt/notesSlides/notesSlide5.xml" Id="R14a4c599e04a44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f5decdf5d4500" /><Relationship Type="http://schemas.openxmlformats.org/officeDocument/2006/relationships/notesSlide" Target="/ppt/notesSlides/notesSlide6.xml" Id="R6a27a951100541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8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6be0dfe1049ad"/>
          <a:srcRect xmlns:a="http://schemas.openxmlformats.org/drawingml/2006/main" l="25000" t="0" r="2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left-field">
            <a:extLst xmlns:a="http://schemas.openxmlformats.org/drawingml/2006/main">
              <a:ext uri="{FF2B5EF4-FFF2-40B4-BE49-F238E27FC236}">
                <a16:creationId xmlns:a16="http://schemas.microsoft.com/office/drawing/2014/main" id="{39B9CAE2-5FEE-4D42-B357-64B36265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38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3BA1195-5F2F-43A3-A458-74B3E400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E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C2FDB8A9-E0BE-4C39-8C4C-0C929841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E66D"/>
                </a:solidFill>
              </a:defRPr>
            </a:pPr>
            <a:r>
              <a:rPr sz="1200" b="1">
                <a:solidFill>
                  <a:srgbClr val="C7E66D"/>
                </a:solidFill>
              </a:rPr>
              <a:t>SAMARTHYA 2026 · IDEATHON PARTICIPANT</a:t>
            </a:r>
          </a:p>
        </p:txBody>
      </p:sp>
      <p:sp>
        <p:nvSpPr>
          <p:cNvPr id="5" name="title-main">
            <a:extLst xmlns:a="http://schemas.openxmlformats.org/drawingml/2006/main">
              <a:ext uri="{FF2B5EF4-FFF2-40B4-BE49-F238E27FC236}">
                <a16:creationId xmlns:a16="http://schemas.microsoft.com/office/drawing/2014/main" id="{A108B705-75EB-4F3A-B4D7-306396A3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762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AeroChem</a:t>
            </a:r>
          </a:p>
          <a:p xmlns:a="http://schemas.openxmlformats.org/drawingml/2006/main">
            <a:pPr algn="l"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Sentinel</a:t>
            </a:r>
          </a:p>
        </p:txBody>
      </p:sp>
      <p:sp>
        <p:nvSpPr>
          <p:cNvPr id="6" name="title-subtitle">
            <a:extLst xmlns:a="http://schemas.openxmlformats.org/drawingml/2006/main">
              <a:ext uri="{FF2B5EF4-FFF2-40B4-BE49-F238E27FC236}">
                <a16:creationId xmlns:a16="http://schemas.microsoft.com/office/drawing/2014/main" id="{1079A063-9173-4E76-8038-041540AB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667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D8DFDA"/>
                </a:solidFill>
              </a:defRPr>
            </a:pPr>
            <a:r>
              <a:rPr sz="2100" b="0">
                <a:solidFill>
                  <a:srgbClr val="D8DFDA"/>
                </a:solidFill>
              </a:rPr>
              <a:t>Regional atmospheric evidence, translated into a practical first monitoring decision.</a:t>
            </a:r>
          </a:p>
        </p:txBody>
      </p:sp>
      <p:sp>
        <p:nvSpPr>
          <p:cNvPr id="7" name="title-location">
            <a:extLst xmlns:a="http://schemas.openxmlformats.org/drawingml/2006/main">
              <a:ext uri="{FF2B5EF4-FFF2-40B4-BE49-F238E27FC236}">
                <a16:creationId xmlns:a16="http://schemas.microsoft.com/office/drawing/2014/main" id="{8F555D30-5E4F-4B07-97B5-21E51F9F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6B32"/>
                </a:solidFill>
              </a:defRPr>
            </a:pPr>
            <a:r>
              <a:rPr sz="1275" b="1">
                <a:solidFill>
                  <a:srgbClr val="E66B32"/>
                </a:solidFill>
              </a:rPr>
              <a:t>MALEGAON · MAHARASHTRA</a:t>
            </a:r>
          </a:p>
        </p:txBody>
      </p:sp>
      <p:sp>
        <p:nvSpPr>
          <p:cNvPr id="8" name="title-link">
            <a:extLst xmlns:a="http://schemas.openxmlformats.org/drawingml/2006/main">
              <a:ext uri="{FF2B5EF4-FFF2-40B4-BE49-F238E27FC236}">
                <a16:creationId xmlns:a16="http://schemas.microsoft.com/office/drawing/2014/main" id="{9A95A94F-89F8-4688-93C3-16A7E132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</a:defRPr>
            </a:pPr>
            <a:r>
              <a:rPr sz="1200" b="0">
                <a:solidFill>
                  <a:srgbClr val="FFFFFF"/>
                </a:solidFill>
              </a:rPr>
              <a:t>sumitpawar2006.github.io/aerochem-sentinel</a:t>
            </a:r>
          </a:p>
        </p:txBody>
      </p:sp>
      <p:sp>
        <p:nvSpPr>
          <p:cNvPr id="9" name="footer-brand-1">
            <a:extLst xmlns:a="http://schemas.openxmlformats.org/drawingml/2006/main">
              <a:ext uri="{FF2B5EF4-FFF2-40B4-BE49-F238E27FC236}">
                <a16:creationId xmlns:a16="http://schemas.microsoft.com/office/drawing/2014/main" id="{11B32B41-E48C-4356-AD59-81FE419B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E66D"/>
                </a:solidFill>
              </a:defRPr>
            </a:pPr>
            <a:r>
              <a:rPr sz="975" b="1">
                <a:solidFill>
                  <a:srgbClr val="C7E66D"/>
                </a:solidFill>
              </a:rPr>
              <a:t>AEROCHEM SENTINEL</a:t>
            </a:r>
          </a:p>
        </p:txBody>
      </p:sp>
      <p:sp>
        <p:nvSpPr>
          <p:cNvPr id="10" name="footer-index-1">
            <a:extLst xmlns:a="http://schemas.openxmlformats.org/drawingml/2006/main">
              <a:ext uri="{FF2B5EF4-FFF2-40B4-BE49-F238E27FC236}">
                <a16:creationId xmlns:a16="http://schemas.microsoft.com/office/drawing/2014/main" id="{21112179-B88F-4C5B-9C78-C8177AC6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884856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9382AE9F-537D-4559-892F-0DFCAC13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66B32"/>
                </a:solidFill>
              </a:defRPr>
            </a:pPr>
            <a:r>
              <a:rPr sz="1125" b="1">
                <a:solidFill>
                  <a:srgbClr val="E66B32"/>
                </a:solidFill>
              </a:rPr>
              <a:t>THE MONITORING GAP</a:t>
            </a:r>
          </a:p>
        </p:txBody>
      </p:sp>
      <p:sp>
        <p:nvSpPr>
          <p:cNvPr id="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F344A1FB-B3A8-4F3C-8B7A-B2BB487B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8211E"/>
                </a:solidFill>
              </a:defRPr>
            </a:pPr>
            <a:r>
              <a:rPr sz="3600" b="1">
                <a:solidFill>
                  <a:srgbClr val="18211E"/>
                </a:solidFill>
              </a:rPr>
              <a:t>Regional context is useful—but not local proof.</a:t>
            </a:r>
          </a:p>
        </p:txBody>
      </p:sp>
      <p:sp>
        <p:nvSpPr>
          <p:cNvPr id="3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AB776765-5038-4B2B-B3F9-39D2C3E4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blem-grid-value">
            <a:extLst xmlns:a="http://schemas.openxmlformats.org/drawingml/2006/main">
              <a:ext uri="{FF2B5EF4-FFF2-40B4-BE49-F238E27FC236}">
                <a16:creationId xmlns:a16="http://schemas.microsoft.com/office/drawing/2014/main" id="{15AA24B8-6B42-4DBF-A227-46476906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347FAA"/>
                </a:solidFill>
              </a:defRPr>
            </a:pPr>
            <a:r>
              <a:rPr sz="6150" b="1">
                <a:solidFill>
                  <a:srgbClr val="347FAA"/>
                </a:solidFill>
              </a:rPr>
              <a:t>45 km</a:t>
            </a:r>
          </a:p>
        </p:txBody>
      </p:sp>
      <p:sp>
        <p:nvSpPr>
          <p:cNvPr id="5" name="problem-grid-label">
            <a:extLst xmlns:a="http://schemas.openxmlformats.org/drawingml/2006/main">
              <a:ext uri="{FF2B5EF4-FFF2-40B4-BE49-F238E27FC236}">
                <a16:creationId xmlns:a16="http://schemas.microsoft.com/office/drawing/2014/main" id="{310BFF5E-08FF-4E00-B0CE-EDF6D66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26D"/>
                </a:solidFill>
              </a:defRPr>
            </a:pPr>
            <a:r>
              <a:rPr sz="1650" b="0">
                <a:solidFill>
                  <a:srgbClr val="66726D"/>
                </a:solidFill>
              </a:rPr>
              <a:t>CAMS global grid used for current context</a:t>
            </a:r>
          </a:p>
        </p:txBody>
      </p:sp>
      <p:sp>
        <p:nvSpPr>
          <p:cNvPr id="6" name="problem-ground-value">
            <a:extLst xmlns:a="http://schemas.openxmlformats.org/drawingml/2006/main">
              <a:ext uri="{FF2B5EF4-FFF2-40B4-BE49-F238E27FC236}">
                <a16:creationId xmlns:a16="http://schemas.microsoft.com/office/drawing/2014/main" id="{B6ED2445-7F1E-424F-80B0-876C39AB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33600"/>
            <a:ext cx="171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E66B32"/>
                </a:solidFill>
              </a:defRPr>
            </a:pPr>
            <a:r>
              <a:rPr sz="6150" b="1">
                <a:solidFill>
                  <a:srgbClr val="E66B32"/>
                </a:solidFill>
              </a:rPr>
              <a:t>0</a:t>
            </a:r>
          </a:p>
        </p:txBody>
      </p:sp>
      <p:sp>
        <p:nvSpPr>
          <p:cNvPr id="7" name="problem-ground-label">
            <a:extLst xmlns:a="http://schemas.openxmlformats.org/drawingml/2006/main">
              <a:ext uri="{FF2B5EF4-FFF2-40B4-BE49-F238E27FC236}">
                <a16:creationId xmlns:a16="http://schemas.microsoft.com/office/drawing/2014/main" id="{122EF1CB-FBF7-4884-BEE4-E69A07EE9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432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26D"/>
                </a:solidFill>
              </a:defRPr>
            </a:pPr>
            <a:r>
              <a:rPr sz="1650" b="0">
                <a:solidFill>
                  <a:srgbClr val="66726D"/>
                </a:solidFill>
              </a:rPr>
              <a:t>verified ground observations connected today</a:t>
            </a:r>
          </a:p>
        </p:txBody>
      </p:sp>
      <p:sp>
        <p:nvSpPr>
          <p:cNvPr id="8" name="problem-pilot-value">
            <a:extLst xmlns:a="http://schemas.openxmlformats.org/drawingml/2006/main">
              <a:ext uri="{FF2B5EF4-FFF2-40B4-BE49-F238E27FC236}">
                <a16:creationId xmlns:a16="http://schemas.microsoft.com/office/drawing/2014/main" id="{40A8F8CE-7F72-4BCF-B1DC-C4FCB1FF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33600"/>
            <a:ext cx="171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0F7C65"/>
                </a:solidFill>
              </a:defRPr>
            </a:pPr>
            <a:r>
              <a:rPr sz="6150" b="1">
                <a:solidFill>
                  <a:srgbClr val="0F7C65"/>
                </a:solidFill>
              </a:rPr>
              <a:t>1</a:t>
            </a:r>
          </a:p>
        </p:txBody>
      </p:sp>
      <p:sp>
        <p:nvSpPr>
          <p:cNvPr id="9" name="problem-pilot-label">
            <a:extLst xmlns:a="http://schemas.openxmlformats.org/drawingml/2006/main">
              <a:ext uri="{FF2B5EF4-FFF2-40B4-BE49-F238E27FC236}">
                <a16:creationId xmlns:a16="http://schemas.microsoft.com/office/drawing/2014/main" id="{F652983E-9FBA-48EB-9C98-C4B3A01F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43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26D"/>
                </a:solidFill>
              </a:defRPr>
            </a:pPr>
            <a:r>
              <a:rPr sz="1650" b="0">
                <a:solidFill>
                  <a:srgbClr val="66726D"/>
                </a:solidFill>
              </a:rPr>
              <a:t>calibrated sensor proposed for the pilot</a:t>
            </a:r>
          </a:p>
        </p:txBody>
      </p:sp>
      <p:sp>
        <p:nvSpPr>
          <p:cNvPr id="10" name="problem-takeaway">
            <a:extLst xmlns:a="http://schemas.openxmlformats.org/drawingml/2006/main">
              <a:ext uri="{FF2B5EF4-FFF2-40B4-BE49-F238E27FC236}">
                <a16:creationId xmlns:a16="http://schemas.microsoft.com/office/drawing/2014/main" id="{A4A9EBA1-B0BF-4811-8302-1E45E86B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1E"/>
                </a:solidFill>
              </a:defRPr>
            </a:pPr>
            <a:r>
              <a:rPr sz="2550" b="1">
                <a:solidFill>
                  <a:srgbClr val="18211E"/>
                </a:solidFill>
              </a:rPr>
              <a:t>The prototype does not hide this gap. It makes the gap actionable.</a:t>
            </a:r>
          </a:p>
        </p:txBody>
      </p:sp>
      <p:sp>
        <p:nvSpPr>
          <p:cNvPr id="11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5DCEF084-309B-4C9E-9B1C-2777E5BF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26D"/>
                </a:solidFill>
              </a:defRPr>
            </a:pPr>
            <a:r>
              <a:rPr sz="1800" b="0">
                <a:solidFill>
                  <a:srgbClr val="66726D"/>
                </a:solidFill>
              </a:rPr>
              <a:t>Use the regional model for situational awareness, select the best first field site, then publish validation evidence before claiming ward-level accuracy.</a:t>
            </a:r>
          </a:p>
        </p:txBody>
      </p:sp>
      <p:sp>
        <p:nvSpPr>
          <p:cNvPr id="12" name="footer-brand-2">
            <a:extLst xmlns:a="http://schemas.openxmlformats.org/drawingml/2006/main">
              <a:ext uri="{FF2B5EF4-FFF2-40B4-BE49-F238E27FC236}">
                <a16:creationId xmlns:a16="http://schemas.microsoft.com/office/drawing/2014/main" id="{F87F3291-0580-4B86-A0D6-7C8FB6E1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C65"/>
                </a:solidFill>
              </a:defRPr>
            </a:pPr>
            <a:r>
              <a:rPr sz="975" b="1">
                <a:solidFill>
                  <a:srgbClr val="0F7C65"/>
                </a:solidFill>
              </a:rPr>
              <a:t>AEROCHEM SENTINEL</a:t>
            </a:r>
          </a:p>
        </p:txBody>
      </p:sp>
      <p:sp>
        <p:nvSpPr>
          <p:cNvPr id="13" name="footer-index-2">
            <a:extLst xmlns:a="http://schemas.openxmlformats.org/drawingml/2006/main">
              <a:ext uri="{FF2B5EF4-FFF2-40B4-BE49-F238E27FC236}">
                <a16:creationId xmlns:a16="http://schemas.microsoft.com/office/drawing/2014/main" id="{2FF57966-86BF-4123-98AE-A37798DF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26D"/>
                </a:solidFill>
              </a:defRPr>
            </a:pPr>
            <a:r>
              <a:rPr sz="975" b="1">
                <a:solidFill>
                  <a:srgbClr val="66726D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66131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vidence-kicker">
            <a:extLst xmlns:a="http://schemas.openxmlformats.org/drawingml/2006/main">
              <a:ext uri="{FF2B5EF4-FFF2-40B4-BE49-F238E27FC236}">
                <a16:creationId xmlns:a16="http://schemas.microsoft.com/office/drawing/2014/main" id="{AE33C7E0-4F4C-431A-B5E1-3DC686C8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C65"/>
                </a:solidFill>
              </a:defRPr>
            </a:pPr>
            <a:r>
              <a:rPr sz="1125" b="1">
                <a:solidFill>
                  <a:srgbClr val="0F7C65"/>
                </a:solidFill>
              </a:rPr>
              <a:t>WORKING PROTOTYPE</a:t>
            </a:r>
          </a:p>
        </p:txBody>
      </p:sp>
      <p:sp>
        <p:nvSpPr>
          <p:cNvPr id="2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3137B77E-5602-4556-9E37-B793FC0D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8211E"/>
                </a:solidFill>
              </a:defRPr>
            </a:pPr>
            <a:r>
              <a:rPr sz="3600" b="1">
                <a:solidFill>
                  <a:srgbClr val="18211E"/>
                </a:solidFill>
              </a:rPr>
              <a:t>A real Sentinel-5P layer anchors the live model context.</a:t>
            </a:r>
          </a:p>
        </p:txBody>
      </p:sp>
      <p:sp>
        <p:nvSpPr>
          <p:cNvPr id="3" name="evidence-values">
            <a:extLst xmlns:a="http://schemas.openxmlformats.org/drawingml/2006/main">
              <a:ext uri="{FF2B5EF4-FFF2-40B4-BE49-F238E27FC236}">
                <a16:creationId xmlns:a16="http://schemas.microsoft.com/office/drawing/2014/main" id="{1E4B274F-F7D3-411C-A179-B657884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47FAA"/>
                </a:solidFill>
              </a:defRPr>
            </a:pPr>
            <a:r>
              <a:rPr sz="1650" b="1">
                <a:solidFill>
                  <a:srgbClr val="347FAA"/>
                </a:solidFill>
              </a:rPr>
              <a:t>NASA GIBS NO₂ column · 08 Aug 2026   |   CAMS US AQI 47 · 09 Aug 2026</a:t>
            </a:r>
          </a:p>
        </p:txBody>
      </p:sp>
      <p:sp>
        <p:nvSpPr>
          <p:cNvPr id="4" name="evidence-frame">
            <a:extLst xmlns:a="http://schemas.openxmlformats.org/drawingml/2006/main">
              <a:ext uri="{FF2B5EF4-FFF2-40B4-BE49-F238E27FC236}">
                <a16:creationId xmlns:a16="http://schemas.microsoft.com/office/drawing/2014/main" id="{B0FD1928-AB83-43BC-AC5E-3F794195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11201400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D8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903942ef274606"/>
          <a:srcRect xmlns:a="http://schemas.openxmlformats.org/drawingml/2006/main" l="0" t="17050" r="0" b="17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1885950"/>
            <a:ext cx="11049000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evidence-caveat">
            <a:extLst xmlns:a="http://schemas.openxmlformats.org/drawingml/2006/main">
              <a:ext uri="{FF2B5EF4-FFF2-40B4-BE49-F238E27FC236}">
                <a16:creationId xmlns:a16="http://schemas.microsoft.com/office/drawing/2014/main" id="{3378594F-78AC-4DAE-A5BC-0529C00A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531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66B32"/>
                </a:solidFill>
              </a:defRPr>
            </a:pPr>
            <a:r>
              <a:rPr sz="1200" b="1">
                <a:solidFill>
                  <a:srgbClr val="E66B32"/>
                </a:solidFill>
              </a:rPr>
              <a:t>NASA GIBS = atmospheric column · CAMS numbers = near-surface model · neither is a sensor reading</a:t>
            </a:r>
          </a:p>
        </p:txBody>
      </p:sp>
      <p:sp>
        <p:nvSpPr>
          <p:cNvPr id="7" name="footer-brand-3">
            <a:extLst xmlns:a="http://schemas.openxmlformats.org/drawingml/2006/main">
              <a:ext uri="{FF2B5EF4-FFF2-40B4-BE49-F238E27FC236}">
                <a16:creationId xmlns:a16="http://schemas.microsoft.com/office/drawing/2014/main" id="{B233B152-DF06-46CA-A493-439330CE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C65"/>
                </a:solidFill>
              </a:defRPr>
            </a:pPr>
            <a:r>
              <a:rPr sz="975" b="1">
                <a:solidFill>
                  <a:srgbClr val="0F7C65"/>
                </a:solidFill>
              </a:rPr>
              <a:t>AEROCHEM SENTINEL</a:t>
            </a:r>
          </a:p>
        </p:txBody>
      </p:sp>
      <p:sp>
        <p:nvSpPr>
          <p:cNvPr id="8" name="footer-index-3">
            <a:extLst xmlns:a="http://schemas.openxmlformats.org/drawingml/2006/main">
              <a:ext uri="{FF2B5EF4-FFF2-40B4-BE49-F238E27FC236}">
                <a16:creationId xmlns:a16="http://schemas.microsoft.com/office/drawing/2014/main" id="{7F6E409D-B223-43AD-8AB5-31BE98DE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26D"/>
                </a:solidFill>
              </a:defRPr>
            </a:pPr>
            <a:r>
              <a:rPr sz="975" b="1">
                <a:solidFill>
                  <a:srgbClr val="66726D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213979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ensor-kicker">
            <a:extLst xmlns:a="http://schemas.openxmlformats.org/drawingml/2006/main">
              <a:ext uri="{FF2B5EF4-FFF2-40B4-BE49-F238E27FC236}">
                <a16:creationId xmlns:a16="http://schemas.microsoft.com/office/drawing/2014/main" id="{DB46F5AD-E299-4999-B82B-8148B029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C65"/>
                </a:solidFill>
              </a:defRPr>
            </a:pPr>
            <a:r>
              <a:rPr sz="1125" b="1">
                <a:solidFill>
                  <a:srgbClr val="0F7C65"/>
                </a:solidFill>
              </a:rPr>
              <a:t>FIRST DECISION</a:t>
            </a:r>
          </a:p>
        </p:txBody>
      </p:sp>
      <p:sp>
        <p:nvSpPr>
          <p:cNvPr id="2" name="sensor-title">
            <a:extLst xmlns:a="http://schemas.openxmlformats.org/drawingml/2006/main">
              <a:ext uri="{FF2B5EF4-FFF2-40B4-BE49-F238E27FC236}">
                <a16:creationId xmlns:a16="http://schemas.microsoft.com/office/drawing/2014/main" id="{8F3BAB39-CB2F-4967-A334-E9379535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8211E"/>
                </a:solidFill>
              </a:defRPr>
            </a:pPr>
            <a:r>
              <a:rPr sz="3600" b="1">
                <a:solidFill>
                  <a:srgbClr val="18211E"/>
                </a:solidFill>
              </a:rPr>
              <a:t>Start where one sensor creates the most learning.</a:t>
            </a:r>
          </a:p>
        </p:txBody>
      </p:sp>
      <p:sp>
        <p:nvSpPr>
          <p:cNvPr id="3" name="sensor-image-frame">
            <a:extLst xmlns:a="http://schemas.openxmlformats.org/drawingml/2006/main">
              <a:ext uri="{FF2B5EF4-FFF2-40B4-BE49-F238E27FC236}">
                <a16:creationId xmlns:a16="http://schemas.microsoft.com/office/drawing/2014/main" id="{43C4D605-8550-49FD-882F-A5B3C33B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7239000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D8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0dd93f14c943c3"/>
          <a:srcRect xmlns:a="http://schemas.openxmlformats.org/drawingml/2006/main" l="4511" t="0" r="45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1638300"/>
            <a:ext cx="708660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sensor-score">
            <a:extLst xmlns:a="http://schemas.openxmlformats.org/drawingml/2006/main">
              <a:ext uri="{FF2B5EF4-FFF2-40B4-BE49-F238E27FC236}">
                <a16:creationId xmlns:a16="http://schemas.microsoft.com/office/drawing/2014/main" id="{A58473F2-6C45-490A-AD0E-60D57507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9070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F7C65"/>
                </a:solidFill>
              </a:defRPr>
            </a:pPr>
            <a:r>
              <a:rPr sz="5250" b="1">
                <a:solidFill>
                  <a:srgbClr val="0F7C65"/>
                </a:solidFill>
              </a:rPr>
              <a:t>87/100</a:t>
            </a:r>
          </a:p>
        </p:txBody>
      </p:sp>
      <p:sp>
        <p:nvSpPr>
          <p:cNvPr id="6" name="sensor-name">
            <a:extLst xmlns:a="http://schemas.openxmlformats.org/drawingml/2006/main">
              <a:ext uri="{FF2B5EF4-FFF2-40B4-BE49-F238E27FC236}">
                <a16:creationId xmlns:a16="http://schemas.microsoft.com/office/drawing/2014/main" id="{040D6CCF-6A4E-46A9-AD00-4C677EE6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0510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11E"/>
                </a:solidFill>
              </a:defRPr>
            </a:pPr>
            <a:r>
              <a:rPr sz="2025" b="1">
                <a:solidFill>
                  <a:srgbClr val="18211E"/>
                </a:solidFill>
              </a:rPr>
              <a:t>Central Malegaon civic zone</a:t>
            </a:r>
          </a:p>
        </p:txBody>
      </p:sp>
      <p:sp>
        <p:nvSpPr>
          <p:cNvPr id="7" name="sensor-metrics">
            <a:extLst xmlns:a="http://schemas.openxmlformats.org/drawingml/2006/main">
              <a:ext uri="{FF2B5EF4-FFF2-40B4-BE49-F238E27FC236}">
                <a16:creationId xmlns:a16="http://schemas.microsoft.com/office/drawing/2014/main" id="{C8A550E9-6B62-4382-A7BC-15F4A65F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24250"/>
            <a:ext cx="3143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6726D"/>
                </a:solidFill>
              </a:defRPr>
            </a:pPr>
            <a:r>
              <a:rPr sz="1725" b="0">
                <a:solidFill>
                  <a:srgbClr val="66726D"/>
                </a:solidFill>
              </a:rPr>
              <a:t>3 km planning radius</a:t>
            </a:r>
          </a:p>
          <a:p xmlns:a="http://schemas.openxmlformats.org/drawingml/2006/main">
            <a:pPr algn="l">
              <a:defRPr sz="1725" b="0">
                <a:solidFill>
                  <a:srgbClr val="66726D"/>
                </a:solidFill>
              </a:defRPr>
            </a:pPr>
            <a:r>
              <a:rPr sz="1725" b="0">
                <a:solidFill>
                  <a:srgbClr val="66726D"/>
                </a:solidFill>
              </a:rPr>
              <a:t>54 mapped sensitive sites</a:t>
            </a:r>
          </a:p>
          <a:p xmlns:a="http://schemas.openxmlformats.org/drawingml/2006/main">
            <a:pPr algn="l">
              <a:defRPr sz="1725" b="0">
                <a:solidFill>
                  <a:srgbClr val="66726D"/>
                </a:solidFill>
              </a:defRPr>
            </a:pPr>
            <a:r>
              <a:rPr sz="1725" b="0">
                <a:solidFill>
                  <a:srgbClr val="66726D"/>
                </a:solidFill>
              </a:rPr>
              <a:t>4 candidates compared</a:t>
            </a:r>
          </a:p>
        </p:txBody>
      </p:sp>
      <p:sp>
        <p:nvSpPr>
          <p:cNvPr id="8" name="sensor-note-rule">
            <a:extLst xmlns:a="http://schemas.openxmlformats.org/drawingml/2006/main">
              <a:ext uri="{FF2B5EF4-FFF2-40B4-BE49-F238E27FC236}">
                <a16:creationId xmlns:a16="http://schemas.microsoft.com/office/drawing/2014/main" id="{D04B8F7B-1184-45D7-AFB3-179F1C2E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720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6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ensor-note">
            <a:extLst xmlns:a="http://schemas.openxmlformats.org/drawingml/2006/main">
              <a:ext uri="{FF2B5EF4-FFF2-40B4-BE49-F238E27FC236}">
                <a16:creationId xmlns:a16="http://schemas.microsoft.com/office/drawing/2014/main" id="{4342EC4C-F265-4F8B-848E-705B3EB5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62550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66B32"/>
                </a:solidFill>
              </a:defRPr>
            </a:pPr>
            <a:r>
              <a:rPr sz="1500" b="1">
                <a:solidFill>
                  <a:srgbClr val="E66B32"/>
                </a:solidFill>
              </a:rPr>
              <a:t>Transparent planning heuristic—not measured pollution proof.</a:t>
            </a:r>
          </a:p>
        </p:txBody>
      </p:sp>
      <p:sp>
        <p:nvSpPr>
          <p:cNvPr id="10" name="footer-brand-4">
            <a:extLst xmlns:a="http://schemas.openxmlformats.org/drawingml/2006/main">
              <a:ext uri="{FF2B5EF4-FFF2-40B4-BE49-F238E27FC236}">
                <a16:creationId xmlns:a16="http://schemas.microsoft.com/office/drawing/2014/main" id="{6ACF29DE-D60A-4320-BBF8-C6DD09A1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C65"/>
                </a:solidFill>
              </a:defRPr>
            </a:pPr>
            <a:r>
              <a:rPr sz="975" b="1">
                <a:solidFill>
                  <a:srgbClr val="0F7C65"/>
                </a:solidFill>
              </a:rPr>
              <a:t>AEROCHEM SENTINEL</a:t>
            </a:r>
          </a:p>
        </p:txBody>
      </p:sp>
      <p:sp>
        <p:nvSpPr>
          <p:cNvPr id="11" name="footer-index-4">
            <a:extLst xmlns:a="http://schemas.openxmlformats.org/drawingml/2006/main">
              <a:ext uri="{FF2B5EF4-FFF2-40B4-BE49-F238E27FC236}">
                <a16:creationId xmlns:a16="http://schemas.microsoft.com/office/drawing/2014/main" id="{D06D48D7-FA2F-4D9C-89F5-16B619F1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26D"/>
                </a:solidFill>
              </a:defRPr>
            </a:pPr>
            <a:r>
              <a:rPr sz="975" b="1">
                <a:solidFill>
                  <a:srgbClr val="66726D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515291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ilot-kicker">
            <a:extLst xmlns:a="http://schemas.openxmlformats.org/drawingml/2006/main">
              <a:ext uri="{FF2B5EF4-FFF2-40B4-BE49-F238E27FC236}">
                <a16:creationId xmlns:a16="http://schemas.microsoft.com/office/drawing/2014/main" id="{ED2784F3-7D07-4E7A-9F6E-CF01459A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66B32"/>
                </a:solidFill>
              </a:defRPr>
            </a:pPr>
            <a:r>
              <a:rPr sz="1125" b="1">
                <a:solidFill>
                  <a:srgbClr val="E66B32"/>
                </a:solidFill>
              </a:rPr>
              <a:t>ACTION + FEASIBILITY</a:t>
            </a:r>
          </a:p>
        </p:txBody>
      </p:sp>
      <p:sp>
        <p:nvSpPr>
          <p:cNvPr id="2" name="pilot-title">
            <a:extLst xmlns:a="http://schemas.openxmlformats.org/drawingml/2006/main">
              <a:ext uri="{FF2B5EF4-FFF2-40B4-BE49-F238E27FC236}">
                <a16:creationId xmlns:a16="http://schemas.microsoft.com/office/drawing/2014/main" id="{83651022-AFE3-4C62-B348-FE0A9CE7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8211E"/>
                </a:solidFill>
              </a:defRPr>
            </a:pPr>
            <a:r>
              <a:rPr sz="3600" b="1">
                <a:solidFill>
                  <a:srgbClr val="18211E"/>
                </a:solidFill>
              </a:rPr>
              <a:t>Test one action—then validate it in the field.</a:t>
            </a:r>
          </a:p>
        </p:txBody>
      </p:sp>
      <p:sp>
        <p:nvSpPr>
          <p:cNvPr id="3" name="pilot-image-frame">
            <a:extLst xmlns:a="http://schemas.openxmlformats.org/drawingml/2006/main">
              <a:ext uri="{FF2B5EF4-FFF2-40B4-BE49-F238E27FC236}">
                <a16:creationId xmlns:a16="http://schemas.microsoft.com/office/drawing/2014/main" id="{379C9B01-DE72-478B-B191-2A6DA89F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D8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762e4ebd24e87"/>
          <a:srcRect xmlns:a="http://schemas.openxmlformats.org/drawingml/2006/main" l="6929" t="0" r="692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1638300"/>
            <a:ext cx="6038850" cy="3943350"/>
          </a:xfrm>
          <a:prstGeom xmlns:a="http://schemas.openxmlformats.org/drawingml/2006/main" prst="rect">
            <a:avLst/>
          </a:prstGeom>
        </p:spPr>
      </p:pic>
      <p:sp>
        <p:nvSpPr>
          <p:cNvPr id="5" name="pilot-time">
            <a:extLst xmlns:a="http://schemas.openxmlformats.org/drawingml/2006/main">
              <a:ext uri="{FF2B5EF4-FFF2-40B4-BE49-F238E27FC236}">
                <a16:creationId xmlns:a16="http://schemas.microsoft.com/office/drawing/2014/main" id="{61651269-5967-48BD-BFDC-7A031DB4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1450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F7C65"/>
                </a:solidFill>
              </a:defRPr>
            </a:pPr>
            <a:r>
              <a:rPr sz="4650" b="1">
                <a:solidFill>
                  <a:srgbClr val="0F7C65"/>
                </a:solidFill>
              </a:rPr>
              <a:t>12 weeks</a:t>
            </a:r>
          </a:p>
        </p:txBody>
      </p:sp>
      <p:sp>
        <p:nvSpPr>
          <p:cNvPr id="6" name="pilot-time-label">
            <a:extLst xmlns:a="http://schemas.openxmlformats.org/drawingml/2006/main">
              <a:ext uri="{FF2B5EF4-FFF2-40B4-BE49-F238E27FC236}">
                <a16:creationId xmlns:a16="http://schemas.microsoft.com/office/drawing/2014/main" id="{B0868511-D6B2-4023-AAA1-1F0D0FCE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574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26D"/>
                </a:solidFill>
              </a:defRPr>
            </a:pPr>
            <a:r>
              <a:rPr sz="1575" b="0">
                <a:solidFill>
                  <a:srgbClr val="66726D"/>
                </a:solidFill>
              </a:rPr>
              <a:t>from site verification to public review</a:t>
            </a:r>
          </a:p>
        </p:txBody>
      </p:sp>
      <p:sp>
        <p:nvSpPr>
          <p:cNvPr id="7" name="pilot-cost">
            <a:extLst xmlns:a="http://schemas.openxmlformats.org/drawingml/2006/main">
              <a:ext uri="{FF2B5EF4-FFF2-40B4-BE49-F238E27FC236}">
                <a16:creationId xmlns:a16="http://schemas.microsoft.com/office/drawing/2014/main" id="{85753C49-C743-4FBD-AC79-22F9F97E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432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47FAA"/>
                </a:solidFill>
              </a:defRPr>
            </a:pPr>
            <a:r>
              <a:rPr sz="4350" b="1">
                <a:solidFill>
                  <a:srgbClr val="347FAA"/>
                </a:solidFill>
              </a:rPr>
              <a:t>₹1.86 lakh</a:t>
            </a:r>
          </a:p>
        </p:txBody>
      </p:sp>
      <p:sp>
        <p:nvSpPr>
          <p:cNvPr id="8" name="pilot-cost-label">
            <a:extLst xmlns:a="http://schemas.openxmlformats.org/drawingml/2006/main">
              <a:ext uri="{FF2B5EF4-FFF2-40B4-BE49-F238E27FC236}">
                <a16:creationId xmlns:a16="http://schemas.microsoft.com/office/drawing/2014/main" id="{80E50BC3-3035-4988-91D4-3623AC08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862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26D"/>
                </a:solidFill>
              </a:defRPr>
            </a:pPr>
            <a:r>
              <a:rPr sz="1575" b="0">
                <a:solidFill>
                  <a:srgbClr val="66726D"/>
                </a:solidFill>
              </a:rPr>
              <a:t>editable year-one planning assumption</a:t>
            </a:r>
          </a:p>
        </p:txBody>
      </p:sp>
      <p:sp>
        <p:nvSpPr>
          <p:cNvPr id="9" name="pilot-steps">
            <a:extLst xmlns:a="http://schemas.openxmlformats.org/drawingml/2006/main">
              <a:ext uri="{FF2B5EF4-FFF2-40B4-BE49-F238E27FC236}">
                <a16:creationId xmlns:a16="http://schemas.microsoft.com/office/drawing/2014/main" id="{2F5389CC-26FC-4ADE-932E-BEE88BEE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4000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11E"/>
                </a:solidFill>
              </a:defRPr>
            </a:pPr>
            <a:r>
              <a:rPr sz="1725" b="1">
                <a:solidFill>
                  <a:srgbClr val="18211E"/>
                </a:solidFill>
              </a:rPr>
              <a:t>Calibrate → compare → publish MAE / RMSE / R² → review one ward intervention</a:t>
            </a:r>
          </a:p>
        </p:txBody>
      </p:sp>
      <p:sp>
        <p:nvSpPr>
          <p:cNvPr id="10" name="pilot-caveat">
            <a:extLst xmlns:a="http://schemas.openxmlformats.org/drawingml/2006/main">
              <a:ext uri="{FF2B5EF4-FFF2-40B4-BE49-F238E27FC236}">
                <a16:creationId xmlns:a16="http://schemas.microsoft.com/office/drawing/2014/main" id="{E556C18C-AA03-47DB-9916-BB4750DF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66B32"/>
                </a:solidFill>
              </a:defRPr>
            </a:pPr>
            <a:r>
              <a:rPr sz="1200" b="1">
                <a:solidFill>
                  <a:srgbClr val="E66B32"/>
                </a:solidFill>
              </a:rPr>
              <a:t>Simulation percentages are illustrative, not forecasts.</a:t>
            </a:r>
          </a:p>
        </p:txBody>
      </p:sp>
      <p:sp>
        <p:nvSpPr>
          <p:cNvPr id="11" name="footer-brand-5">
            <a:extLst xmlns:a="http://schemas.openxmlformats.org/drawingml/2006/main">
              <a:ext uri="{FF2B5EF4-FFF2-40B4-BE49-F238E27FC236}">
                <a16:creationId xmlns:a16="http://schemas.microsoft.com/office/drawing/2014/main" id="{0AC00C8A-87C1-4D5A-A7C0-1EECE165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C65"/>
                </a:solidFill>
              </a:defRPr>
            </a:pPr>
            <a:r>
              <a:rPr sz="975" b="1">
                <a:solidFill>
                  <a:srgbClr val="0F7C65"/>
                </a:solidFill>
              </a:rPr>
              <a:t>AEROCHEM SENTINEL</a:t>
            </a:r>
          </a:p>
        </p:txBody>
      </p:sp>
      <p:sp>
        <p:nvSpPr>
          <p:cNvPr id="12" name="footer-index-5">
            <a:extLst xmlns:a="http://schemas.openxmlformats.org/drawingml/2006/main">
              <a:ext uri="{FF2B5EF4-FFF2-40B4-BE49-F238E27FC236}">
                <a16:creationId xmlns:a16="http://schemas.microsoft.com/office/drawing/2014/main" id="{5F54BF70-8F18-4E1B-BC02-5D200959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26D"/>
                </a:solidFill>
              </a:defRPr>
            </a:pPr>
            <a:r>
              <a:rPr sz="975" b="1">
                <a:solidFill>
                  <a:srgbClr val="66726D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205312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8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sk-kicker">
            <a:extLst xmlns:a="http://schemas.openxmlformats.org/drawingml/2006/main">
              <a:ext uri="{FF2B5EF4-FFF2-40B4-BE49-F238E27FC236}">
                <a16:creationId xmlns:a16="http://schemas.microsoft.com/office/drawing/2014/main" id="{0E302C46-A1DA-4AEF-8EB5-BC26B362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E66D"/>
                </a:solidFill>
              </a:defRPr>
            </a:pPr>
            <a:r>
              <a:rPr sz="1200" b="1">
                <a:solidFill>
                  <a:srgbClr val="C7E66D"/>
                </a:solidFill>
              </a:rPr>
              <a:t>THE ASK</a:t>
            </a:r>
          </a:p>
        </p:txBody>
      </p:sp>
      <p:sp>
        <p:nvSpPr>
          <p:cNvPr id="2" name="ask-title">
            <a:extLst xmlns:a="http://schemas.openxmlformats.org/drawingml/2006/main">
              <a:ext uri="{FF2B5EF4-FFF2-40B4-BE49-F238E27FC236}">
                <a16:creationId xmlns:a16="http://schemas.microsoft.com/office/drawing/2014/main" id="{FD0FFF9C-9C08-421B-9034-158A359C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876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Approve a 12-week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validation pilot.</a:t>
            </a:r>
          </a:p>
        </p:txBody>
      </p:sp>
      <p:sp>
        <p:nvSpPr>
          <p:cNvPr id="3" name="ask-rule">
            <a:extLst xmlns:a="http://schemas.openxmlformats.org/drawingml/2006/main">
              <a:ext uri="{FF2B5EF4-FFF2-40B4-BE49-F238E27FC236}">
                <a16:creationId xmlns:a16="http://schemas.microsoft.com/office/drawing/2014/main" id="{C2EE5984-467B-46A3-8438-F7DBAEC5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E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sk-1-num">
            <a:extLst xmlns:a="http://schemas.openxmlformats.org/drawingml/2006/main">
              <a:ext uri="{FF2B5EF4-FFF2-40B4-BE49-F238E27FC236}">
                <a16:creationId xmlns:a16="http://schemas.microsoft.com/office/drawing/2014/main" id="{00637A25-B2F4-47F4-BDD1-A899809D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E66D"/>
                </a:solidFill>
              </a:defRPr>
            </a:pPr>
            <a:r>
              <a:rPr sz="1500" b="1">
                <a:solidFill>
                  <a:srgbClr val="C7E66D"/>
                </a:solidFill>
              </a:rPr>
              <a:t>01</a:t>
            </a:r>
          </a:p>
        </p:txBody>
      </p:sp>
      <p:sp>
        <p:nvSpPr>
          <p:cNvPr id="5" name="ask-1">
            <a:extLst xmlns:a="http://schemas.openxmlformats.org/drawingml/2006/main">
              <a:ext uri="{FF2B5EF4-FFF2-40B4-BE49-F238E27FC236}">
                <a16:creationId xmlns:a16="http://schemas.microsoft.com/office/drawing/2014/main" id="{81A7A981-7845-4B00-85F3-0A7C731F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6705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Install and co-locate one calibrated sensor.</a:t>
            </a:r>
          </a:p>
        </p:txBody>
      </p:sp>
      <p:sp>
        <p:nvSpPr>
          <p:cNvPr id="6" name="ask-2-num">
            <a:extLst xmlns:a="http://schemas.openxmlformats.org/drawingml/2006/main">
              <a:ext uri="{FF2B5EF4-FFF2-40B4-BE49-F238E27FC236}">
                <a16:creationId xmlns:a16="http://schemas.microsoft.com/office/drawing/2014/main" id="{DC3D7E3D-26D1-4505-840E-EF60ECC2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E66D"/>
                </a:solidFill>
              </a:defRPr>
            </a:pPr>
            <a:r>
              <a:rPr sz="1500" b="1">
                <a:solidFill>
                  <a:srgbClr val="C7E66D"/>
                </a:solidFill>
              </a:rPr>
              <a:t>02</a:t>
            </a:r>
          </a:p>
        </p:txBody>
      </p:sp>
      <p:sp>
        <p:nvSpPr>
          <p:cNvPr id="7" name="ask-2">
            <a:extLst xmlns:a="http://schemas.openxmlformats.org/drawingml/2006/main">
              <a:ext uri="{FF2B5EF4-FFF2-40B4-BE49-F238E27FC236}">
                <a16:creationId xmlns:a16="http://schemas.microsoft.com/office/drawing/2014/main" id="{880F90C7-4CE0-484A-9B34-7E8A92F8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95700"/>
            <a:ext cx="885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Publish time-aware validation metrics and uncertainty.</a:t>
            </a:r>
          </a:p>
        </p:txBody>
      </p:sp>
      <p:sp>
        <p:nvSpPr>
          <p:cNvPr id="8" name="ask-3-num">
            <a:extLst xmlns:a="http://schemas.openxmlformats.org/drawingml/2006/main">
              <a:ext uri="{FF2B5EF4-FFF2-40B4-BE49-F238E27FC236}">
                <a16:creationId xmlns:a16="http://schemas.microsoft.com/office/drawing/2014/main" id="{4063BA00-95DC-4558-B78A-84BDA40E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E66D"/>
                </a:solidFill>
              </a:defRPr>
            </a:pPr>
            <a:r>
              <a:rPr sz="1500" b="1">
                <a:solidFill>
                  <a:srgbClr val="C7E66D"/>
                </a:solidFill>
              </a:rPr>
              <a:t>03</a:t>
            </a:r>
          </a:p>
        </p:txBody>
      </p:sp>
      <p:sp>
        <p:nvSpPr>
          <p:cNvPr id="9" name="ask-3">
            <a:extLst xmlns:a="http://schemas.openxmlformats.org/drawingml/2006/main">
              <a:ext uri="{FF2B5EF4-FFF2-40B4-BE49-F238E27FC236}">
                <a16:creationId xmlns:a16="http://schemas.microsoft.com/office/drawing/2014/main" id="{3EAFC853-295E-4538-A37A-42930D97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243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Give schools, clinics and civic teams a five-minute brief.</a:t>
            </a:r>
          </a:p>
        </p:txBody>
      </p:sp>
      <p:sp>
        <p:nvSpPr>
          <p:cNvPr id="10" name="ask-team">
            <a:extLst xmlns:a="http://schemas.openxmlformats.org/drawingml/2006/main">
              <a:ext uri="{FF2B5EF4-FFF2-40B4-BE49-F238E27FC236}">
                <a16:creationId xmlns:a16="http://schemas.microsoft.com/office/drawing/2014/main" id="{3635114D-5463-4729-ADB6-C0C4AAFE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AD2CD"/>
                </a:solidFill>
              </a:defRPr>
            </a:pPr>
            <a:r>
              <a:rPr sz="1350" b="0">
                <a:solidFill>
                  <a:srgbClr val="CAD2CD"/>
                </a:solidFill>
              </a:rPr>
              <a:t>Khushi · Domain &amp; problem   |   Vaishnavi · ML &amp; data   |   Sumit · Dashboard &amp; integration</a:t>
            </a:r>
          </a:p>
        </p:txBody>
      </p:sp>
      <p:sp>
        <p:nvSpPr>
          <p:cNvPr id="11" name="ask-link">
            <a:extLst xmlns:a="http://schemas.openxmlformats.org/drawingml/2006/main">
              <a:ext uri="{FF2B5EF4-FFF2-40B4-BE49-F238E27FC236}">
                <a16:creationId xmlns:a16="http://schemas.microsoft.com/office/drawing/2014/main" id="{23424C06-03A6-4386-B92E-F2EE3392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66B32"/>
                </a:solidFill>
              </a:defRPr>
            </a:pPr>
            <a:r>
              <a:rPr sz="1650" b="1">
                <a:solidFill>
                  <a:srgbClr val="E66B32"/>
                </a:solidFill>
              </a:rPr>
              <a:t>LIVE DEMO  →  sumitpawar2006.github.io/aerochem-sentinel</a:t>
            </a:r>
          </a:p>
        </p:txBody>
      </p:sp>
      <p:sp>
        <p:nvSpPr>
          <p:cNvPr id="12" name="footer-brand-6">
            <a:extLst xmlns:a="http://schemas.openxmlformats.org/drawingml/2006/main">
              <a:ext uri="{FF2B5EF4-FFF2-40B4-BE49-F238E27FC236}">
                <a16:creationId xmlns:a16="http://schemas.microsoft.com/office/drawing/2014/main" id="{5AC3B308-2B3C-43AD-8D2D-A37399C7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E66D"/>
                </a:solidFill>
              </a:defRPr>
            </a:pPr>
            <a:r>
              <a:rPr sz="975" b="1">
                <a:solidFill>
                  <a:srgbClr val="C7E66D"/>
                </a:solidFill>
              </a:rPr>
              <a:t>AEROCHEM SENTINEL</a:t>
            </a:r>
          </a:p>
        </p:txBody>
      </p:sp>
      <p:sp>
        <p:nvSpPr>
          <p:cNvPr id="13" name="footer-index-6">
            <a:extLst xmlns:a="http://schemas.openxmlformats.org/drawingml/2006/main">
              <a:ext uri="{FF2B5EF4-FFF2-40B4-BE49-F238E27FC236}">
                <a16:creationId xmlns:a16="http://schemas.microsoft.com/office/drawing/2014/main" id="{18C9F8A1-45F5-400E-A1E7-6483E4A1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501917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2026-08-08T19:06:03.4540000Z</dcterms:created>
  <dcterms:modified xsi:type="dcterms:W3CDTF">2026-08-08T19:06:03.4540000Z</dcterms:modified>
</coreProperties>
</file>